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3" r:id="rId5"/>
    <p:sldId id="259" r:id="rId6"/>
    <p:sldId id="260" r:id="rId7"/>
    <p:sldId id="261" r:id="rId8"/>
    <p:sldId id="262"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4"/>
    <p:restoredTop sz="94610"/>
  </p:normalViewPr>
  <p:slideViewPr>
    <p:cSldViewPr snapToGrid="0" snapToObjects="1">
      <p:cViewPr varScale="1">
        <p:scale>
          <a:sx n="144" d="100"/>
          <a:sy n="144" d="100"/>
        </p:scale>
        <p:origin x="624"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9453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YoungJo Choi, and I want to walk you through my custom intellectual property module — a hardware accelerator for tiled general matrix multiplication, built from scratch in SystemVerilog on the Zynq-7020 FPGA. Over the next five minutes, I'll show you what I built, why I made the design choices I made, and the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IP computes one tile of a general matrix multiplication — C equals A times B for eight-by-eight tiles, with 16-bit signed integer inputs and a 32-bit accumulator output. The interface is AXI-Lite: the host writes to a CTRL register to start, polls a STATUS register for done, and reads the result tile from 64 memory-mapped registers. From start to finish, a single tile takes 15 clock cycles — about 150 nanoseconds at 100 megahertz — which works out to 3.4 giga-multiply-accumulates per second. The deliverable is a packaged Vivado IP that can be dropped into any block design like a standard Xilinx component.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five major blocks. At the top is a custom AXI-Lite slave that handles all host communication. Underneath is a finite state machine controller that sequences the compute phases. Two tile buffers stage the A and B operand tiles — the A buffer is partitioned into 8 banks so all 8 rows can be read in parallel each cycle, and the B buffer is a 64-element register array that exposes all weights simultaneously for single-cycle loading. The compute core is an 8-by-8 grid of 64 processing elements, each containing a multiplier, accumulator, and weight register. The grid uses per-row input skew chains and per-column output drain chains to keep the dataflow correct. Every cycle in the stream phase, 8 multiplies and 8 adds execute simultaneously.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5CFF3-4CD6-FDD7-4FD4-B122C1F45E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2CADA-9DA2-F44D-C6C0-E773FF6C91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34BC2E-6D7E-9E91-D8E3-6ECFEC753994}"/>
              </a:ext>
            </a:extLst>
          </p:cNvPr>
          <p:cNvSpPr>
            <a:spLocks noGrp="1"/>
          </p:cNvSpPr>
          <p:nvPr>
            <p:ph type="body" idx="1"/>
          </p:nvPr>
        </p:nvSpPr>
        <p:spPr/>
        <p:txBody>
          <a:bodyPr/>
          <a:lstStyle/>
          <a:p>
            <a:r>
              <a:rPr lang="en-US" dirty="0"/>
              <a:t>The architecture has five major blocks. At the top is a custom AXI-Lite slave that handles all host communication. Underneath is a finite state machine controller that sequences the compute phases. Two tile buffers stage the A and B operand tiles — the A buffer is partitioned into 8 banks so all 8 rows can be read in parallel each cycle, and the B buffer is a 64-element register array that exposes all weights simultaneously for single-cycle loading. The compute core is an 8-by-8 grid of 64 processing elements, each containing a multiplier, accumulator, and weight register. The grid uses per-row input skew chains and per-column output drain chains to keep the dataflow correct. Every cycle in the stream phase, 8 multiplies and 8 adds execute simultaneously.</a:t>
            </a:r>
          </a:p>
        </p:txBody>
      </p:sp>
      <p:sp>
        <p:nvSpPr>
          <p:cNvPr id="4" name="Slide Number Placeholder 3">
            <a:extLst>
              <a:ext uri="{FF2B5EF4-FFF2-40B4-BE49-F238E27FC236}">
                <a16:creationId xmlns:a16="http://schemas.microsoft.com/office/drawing/2014/main" id="{5BAAB612-DE4E-A57F-4A52-B780BFF08F1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670768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choices defined this design. First — I wrote it in raw SystemVerilog instead of using Vitis HLS. The course emphasizes register-transfer-level understanding, and hand-tuned RTL is typically 1.5 to 3 times more area-efficient than HLS output for structured datapaths like systolic arrays. Second — why 8 by 8 specifically? Four by four would underutilize the chip. Sixteen by sixteen would need 256 DSP slices, but the Zynq-7020 only has 220 — so it wouldn't fit. Eight by eight uses 29 percent of the DSP budget, leaving room for a second instance later. Third — I chose weight-stationary dataflow, where the B tile sits in PE registers across the whole compute. This gives me the simplest possible buffer interface: load B once in a single cycle, then never touch the B-buffer port again.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verification follows a unit-then-integration approach. I built five testbenches that mirror the module hierarchy: starting from a single processing element, then the full systolic array, then the array with tile buffers, then with the FSM, and finally the full AXI-driven testbench. For test vectors, I wrote a Python golden model using NumPy that generates 100 random A and B tile pairs with a fixed random seed — so the test data is bit-identical across runs and machines. Each testbench reads the same hex files and compares the hardware output against the expected NumPy result, cell by cell. Across all four integration levels, every single one of 6,400 cells passes bit-exactly.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real numbers from Vivado synthesis and implementation on the Zynq-7020. DSP usage came in at 64 slices, exactly as designed — one DSP per processing element. Combined logic uses just 3.3 percent of the LUTs and 4.7 percent of the flip-flops. The tile buffers map to LUTRAM rather than block RAM, leaving all 140 BRAM tiles free. Most importantly, timing closed cleanly: the worst negative slack is positive 1.377 nanoseconds at the 100 megahertz target, meaning the design could run up to 116 megahertz. The bitstream generated without errors and loaded correctly on a real PYNQ-Z2 board.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every performance goal was met: bit-exact correctness, latency under 30 cycles, comfortable resource fit, and timing closed at the target frequency. The biggest lesson I'd carry forward is that simulation is necessary but not sufficient — testing your hardware against your model of the hardware can mask interaction bugs that only show up on real silicon. The full repository, including RTL, testbenches, Tcl automation, and detailed phase walkthroughs, is on my GitHub.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D"/>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640080" y="502920"/>
            <a:ext cx="8229600" cy="320040"/>
          </a:xfrm>
          <a:prstGeom prst="rect">
            <a:avLst/>
          </a:prstGeom>
          <a:noFill/>
          <a:ln/>
        </p:spPr>
        <p:txBody>
          <a:bodyPr wrap="square" rtlCol="0" anchor="ctr"/>
          <a:lstStyle/>
          <a:p>
            <a:pPr marL="0" indent="0">
              <a:buNone/>
            </a:pPr>
            <a:r>
              <a:rPr lang="en-US" sz="1200" b="1" kern="0" spc="300" dirty="0">
                <a:solidFill>
                  <a:srgbClr val="00B4D8"/>
                </a:solidFill>
                <a:latin typeface="Calibri" pitchFamily="34" charset="0"/>
                <a:ea typeface="Calibri" pitchFamily="34" charset="-122"/>
                <a:cs typeface="Calibri" pitchFamily="34" charset="-120"/>
              </a:rPr>
              <a:t>ECE: IP DESIGN  ·  GRADUATE PROJECT</a:t>
            </a:r>
            <a:endParaRPr lang="en-US" sz="1200" dirty="0"/>
          </a:p>
        </p:txBody>
      </p:sp>
      <p:sp>
        <p:nvSpPr>
          <p:cNvPr id="4" name="Text 2"/>
          <p:cNvSpPr/>
          <p:nvPr/>
        </p:nvSpPr>
        <p:spPr>
          <a:xfrm>
            <a:off x="640080" y="1280160"/>
            <a:ext cx="8229600" cy="100584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Custom IP Module for Tiled GEMM</a:t>
            </a:r>
            <a:endParaRPr lang="en-US" sz="4200" dirty="0"/>
          </a:p>
        </p:txBody>
      </p:sp>
      <p:sp>
        <p:nvSpPr>
          <p:cNvPr id="5" name="Text 3"/>
          <p:cNvSpPr/>
          <p:nvPr/>
        </p:nvSpPr>
        <p:spPr>
          <a:xfrm>
            <a:off x="640080" y="2286000"/>
            <a:ext cx="8229600" cy="457200"/>
          </a:xfrm>
          <a:prstGeom prst="rect">
            <a:avLst/>
          </a:prstGeom>
          <a:noFill/>
          <a:ln/>
        </p:spPr>
        <p:txBody>
          <a:bodyPr wrap="square" lIns="0" tIns="0" rIns="0" bIns="0" rtlCol="0" anchor="ctr"/>
          <a:lstStyle/>
          <a:p>
            <a:pPr marL="0" indent="0">
              <a:buNone/>
            </a:pPr>
            <a:r>
              <a:rPr lang="en-US" sz="2000" dirty="0">
                <a:solidFill>
                  <a:srgbClr val="8ECAE6"/>
                </a:solidFill>
                <a:latin typeface="Calibri" pitchFamily="34" charset="0"/>
                <a:ea typeface="Calibri" pitchFamily="34" charset="-122"/>
                <a:cs typeface="Calibri" pitchFamily="34" charset="-120"/>
              </a:rPr>
              <a:t>An 8×8 Weight-Stationary Systolic Array on Xilinx Zynq-7020</a:t>
            </a:r>
            <a:endParaRPr lang="en-US" sz="2000" dirty="0"/>
          </a:p>
        </p:txBody>
      </p:sp>
      <p:sp>
        <p:nvSpPr>
          <p:cNvPr id="6" name="Shape 4"/>
          <p:cNvSpPr/>
          <p:nvPr/>
        </p:nvSpPr>
        <p:spPr>
          <a:xfrm>
            <a:off x="640080" y="3291840"/>
            <a:ext cx="1371600" cy="0"/>
          </a:xfrm>
          <a:prstGeom prst="line">
            <a:avLst/>
          </a:prstGeom>
          <a:noFill/>
          <a:ln w="25400">
            <a:solidFill>
              <a:srgbClr val="00B4D8"/>
            </a:solidFill>
            <a:prstDash val="solid"/>
          </a:ln>
        </p:spPr>
        <p:txBody>
          <a:bodyPr/>
          <a:lstStyle/>
          <a:p>
            <a:endParaRPr lang="en-US"/>
          </a:p>
        </p:txBody>
      </p:sp>
      <p:sp>
        <p:nvSpPr>
          <p:cNvPr id="7" name="Text 5"/>
          <p:cNvSpPr/>
          <p:nvPr/>
        </p:nvSpPr>
        <p:spPr>
          <a:xfrm>
            <a:off x="640080" y="3520440"/>
            <a:ext cx="8229600" cy="9144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Jo Choi</a:t>
            </a:r>
            <a:endParaRPr lang="en-US" sz="1600" dirty="0"/>
          </a:p>
          <a:p>
            <a:pPr marL="0" indent="0">
              <a:buNone/>
            </a:pPr>
            <a:r>
              <a:rPr lang="en-US" sz="1300" dirty="0">
                <a:solidFill>
                  <a:srgbClr val="94A3B8"/>
                </a:solidFill>
                <a:latin typeface="Calibri" pitchFamily="34" charset="0"/>
                <a:ea typeface="Calibri" pitchFamily="34" charset="-122"/>
                <a:cs typeface="Calibri" pitchFamily="34" charset="-120"/>
              </a:rPr>
              <a:t>NYU Tandon  · ECE9463 Spring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marL="0" indent="0">
              <a:buNone/>
            </a:pPr>
            <a:r>
              <a:rPr lang="en-US" sz="3200" b="1" dirty="0">
                <a:solidFill>
                  <a:srgbClr val="0F1E3D"/>
                </a:solidFill>
                <a:latin typeface="Calibri" pitchFamily="34" charset="0"/>
                <a:ea typeface="Calibri" pitchFamily="34" charset="-122"/>
                <a:cs typeface="Calibri" pitchFamily="34" charset="-120"/>
              </a:rPr>
              <a:t>What I Built</a:t>
            </a:r>
            <a:endParaRPr lang="en-US" sz="3200" dirty="0"/>
          </a:p>
        </p:txBody>
      </p:sp>
      <p:sp>
        <p:nvSpPr>
          <p:cNvPr id="3" name="Text 1"/>
          <p:cNvSpPr/>
          <p:nvPr/>
        </p:nvSpPr>
        <p:spPr>
          <a:xfrm>
            <a:off x="548640" y="914400"/>
            <a:ext cx="8229600" cy="320040"/>
          </a:xfrm>
          <a:prstGeom prst="rect">
            <a:avLst/>
          </a:prstGeom>
          <a:noFill/>
          <a:ln/>
        </p:spPr>
        <p:txBody>
          <a:bodyPr wrap="square" lIns="0" tIns="0" rIns="0" bIns="0"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A reusable Vivado IP that computes one tile of a GEMM</a:t>
            </a:r>
            <a:endParaRPr lang="en-US" sz="1400" dirty="0"/>
          </a:p>
        </p:txBody>
      </p:sp>
      <p:sp>
        <p:nvSpPr>
          <p:cNvPr id="4" name="Text 2"/>
          <p:cNvSpPr/>
          <p:nvPr/>
        </p:nvSpPr>
        <p:spPr>
          <a:xfrm>
            <a:off x="548640" y="1554480"/>
            <a:ext cx="4754880" cy="2286000"/>
          </a:xfrm>
          <a:prstGeom prst="rect">
            <a:avLst/>
          </a:prstGeom>
          <a:noFill/>
          <a:ln/>
        </p:spPr>
        <p:txBody>
          <a:bodyPr wrap="square" lIns="0" tIns="0" rIns="0" bIns="0" rtlCol="0" anchor="t"/>
          <a:lstStyle/>
          <a:p>
            <a:pPr marL="0" indent="0">
              <a:spcAft>
                <a:spcPts val="400"/>
              </a:spcAft>
              <a:buNone/>
            </a:pPr>
            <a:r>
              <a:rPr lang="en-US" sz="1400" b="1" dirty="0">
                <a:solidFill>
                  <a:srgbClr val="0F1E3D"/>
                </a:solidFill>
                <a:latin typeface="Calibri" pitchFamily="34" charset="0"/>
                <a:ea typeface="Calibri" pitchFamily="34" charset="-122"/>
                <a:cs typeface="Calibri" pitchFamily="34" charset="-120"/>
              </a:rPr>
              <a:t>Operation:  </a:t>
            </a:r>
            <a:r>
              <a:rPr lang="en-US" sz="1400" dirty="0">
                <a:solidFill>
                  <a:srgbClr val="1E293B"/>
                </a:solidFill>
                <a:latin typeface="Calibri" pitchFamily="34" charset="0"/>
                <a:ea typeface="Calibri" pitchFamily="34" charset="-122"/>
                <a:cs typeface="Calibri" pitchFamily="34" charset="-120"/>
              </a:rPr>
              <a:t>C[8][8] = A[8][8] × B[8][8]</a:t>
            </a:r>
            <a:endParaRPr lang="en-US" sz="1400" dirty="0"/>
          </a:p>
          <a:p>
            <a:pPr marL="0" indent="0">
              <a:spcAft>
                <a:spcPts val="400"/>
              </a:spcAft>
              <a:buNone/>
            </a:pP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spcAft>
                <a:spcPts val="400"/>
              </a:spcAft>
              <a:buNone/>
            </a:pPr>
            <a:r>
              <a:rPr lang="en-US" sz="1400" b="1" dirty="0">
                <a:solidFill>
                  <a:srgbClr val="0F1E3D"/>
                </a:solidFill>
                <a:latin typeface="Calibri" pitchFamily="34" charset="0"/>
                <a:ea typeface="Calibri" pitchFamily="34" charset="-122"/>
                <a:cs typeface="Calibri" pitchFamily="34" charset="-120"/>
              </a:rPr>
              <a:t>Numerics:  </a:t>
            </a:r>
            <a:r>
              <a:rPr lang="en-US" sz="1400" dirty="0">
                <a:solidFill>
                  <a:srgbClr val="1E293B"/>
                </a:solidFill>
                <a:latin typeface="Calibri" pitchFamily="34" charset="0"/>
                <a:ea typeface="Calibri" pitchFamily="34" charset="-122"/>
                <a:cs typeface="Calibri" pitchFamily="34" charset="-120"/>
              </a:rPr>
              <a:t>int16 inputs, int32 accumulator output</a:t>
            </a:r>
            <a:endParaRPr lang="en-US" sz="1400" dirty="0"/>
          </a:p>
          <a:p>
            <a:pPr marL="0" indent="0">
              <a:spcAft>
                <a:spcPts val="400"/>
              </a:spcAft>
              <a:buNone/>
            </a:pP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spcAft>
                <a:spcPts val="400"/>
              </a:spcAft>
              <a:buNone/>
            </a:pPr>
            <a:r>
              <a:rPr lang="en-US" sz="1400" b="1" dirty="0">
                <a:solidFill>
                  <a:srgbClr val="0F1E3D"/>
                </a:solidFill>
                <a:latin typeface="Calibri" pitchFamily="34" charset="0"/>
                <a:ea typeface="Calibri" pitchFamily="34" charset="-122"/>
                <a:cs typeface="Calibri" pitchFamily="34" charset="-120"/>
              </a:rPr>
              <a:t>Interface:  </a:t>
            </a:r>
            <a:r>
              <a:rPr lang="en-US" sz="1400" dirty="0">
                <a:solidFill>
                  <a:srgbClr val="1E293B"/>
                </a:solidFill>
                <a:latin typeface="Calibri" pitchFamily="34" charset="0"/>
                <a:ea typeface="Calibri" pitchFamily="34" charset="-122"/>
                <a:cs typeface="Calibri" pitchFamily="34" charset="-120"/>
              </a:rPr>
              <a:t>AXI-Lite slave  (CTRL, STATUS, C-tile readback)</a:t>
            </a:r>
            <a:endParaRPr lang="en-US" sz="1400" dirty="0"/>
          </a:p>
          <a:p>
            <a:pPr marL="0" indent="0">
              <a:spcAft>
                <a:spcPts val="400"/>
              </a:spcAft>
              <a:buNone/>
            </a:pP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spcAft>
                <a:spcPts val="400"/>
              </a:spcAft>
              <a:buNone/>
            </a:pPr>
            <a:r>
              <a:rPr lang="en-US" sz="1400" b="1" dirty="0">
                <a:solidFill>
                  <a:srgbClr val="0F1E3D"/>
                </a:solidFill>
                <a:latin typeface="Calibri" pitchFamily="34" charset="0"/>
                <a:ea typeface="Calibri" pitchFamily="34" charset="-122"/>
                <a:cs typeface="Calibri" pitchFamily="34" charset="-120"/>
              </a:rPr>
              <a:t>Deliverable:  </a:t>
            </a:r>
            <a:r>
              <a:rPr lang="en-US" sz="1400" dirty="0">
                <a:solidFill>
                  <a:srgbClr val="1E293B"/>
                </a:solidFill>
                <a:latin typeface="Calibri" pitchFamily="34" charset="0"/>
                <a:ea typeface="Calibri" pitchFamily="34" charset="-122"/>
                <a:cs typeface="Calibri" pitchFamily="34" charset="-120"/>
              </a:rPr>
              <a:t>Packaged Vivado IP — drop-in to any block design</a:t>
            </a:r>
            <a:endParaRPr lang="en-US" sz="1400" dirty="0"/>
          </a:p>
        </p:txBody>
      </p:sp>
      <p:sp>
        <p:nvSpPr>
          <p:cNvPr id="5" name="Shape 3"/>
          <p:cNvSpPr/>
          <p:nvPr/>
        </p:nvSpPr>
        <p:spPr>
          <a:xfrm>
            <a:off x="5440680" y="1737360"/>
            <a:ext cx="868680" cy="960120"/>
          </a:xfrm>
          <a:prstGeom prst="rect">
            <a:avLst/>
          </a:prstGeom>
          <a:solidFill>
            <a:srgbClr val="F8FAFC"/>
          </a:solidFill>
          <a:ln w="19050">
            <a:solidFill>
              <a:srgbClr val="0F1E3D"/>
            </a:solidFill>
            <a:prstDash val="solid"/>
          </a:ln>
        </p:spPr>
        <p:txBody>
          <a:bodyPr/>
          <a:lstStyle/>
          <a:p>
            <a:endParaRPr lang="en-US"/>
          </a:p>
        </p:txBody>
      </p:sp>
      <p:sp>
        <p:nvSpPr>
          <p:cNvPr id="6" name="Text 4"/>
          <p:cNvSpPr/>
          <p:nvPr/>
        </p:nvSpPr>
        <p:spPr>
          <a:xfrm>
            <a:off x="5440680" y="1737360"/>
            <a:ext cx="868680" cy="960120"/>
          </a:xfrm>
          <a:prstGeom prst="rect">
            <a:avLst/>
          </a:prstGeom>
          <a:noFill/>
          <a:ln/>
        </p:spPr>
        <p:txBody>
          <a:bodyPr wrap="square" lIns="0" tIns="0" rIns="0" bIns="0" rtlCol="0" anchor="ctr"/>
          <a:lstStyle/>
          <a:p>
            <a:pPr marL="0" indent="0" algn="ctr">
              <a:buNone/>
            </a:pPr>
            <a:r>
              <a:rPr lang="en-US" sz="1800" b="1" dirty="0">
                <a:solidFill>
                  <a:srgbClr val="0F1E3D"/>
                </a:solidFill>
                <a:latin typeface="Calibri" pitchFamily="34" charset="0"/>
                <a:ea typeface="Calibri" pitchFamily="34" charset="-122"/>
                <a:cs typeface="Calibri" pitchFamily="34" charset="-120"/>
              </a:rPr>
              <a:t>A</a:t>
            </a:r>
            <a:endParaRPr lang="en-US" sz="1800" dirty="0"/>
          </a:p>
          <a:p>
            <a:pPr marL="0" indent="0" algn="ctr">
              <a:buNone/>
            </a:pPr>
            <a:r>
              <a:rPr lang="en-US" sz="1800" b="1" dirty="0">
                <a:solidFill>
                  <a:srgbClr val="0F1E3D"/>
                </a:solidFill>
                <a:latin typeface="Calibri" pitchFamily="34" charset="0"/>
                <a:ea typeface="Calibri" pitchFamily="34" charset="-122"/>
                <a:cs typeface="Calibri" pitchFamily="34" charset="-120"/>
              </a:rPr>
              <a:t>8×8</a:t>
            </a:r>
            <a:endParaRPr lang="en-US" sz="1800" dirty="0"/>
          </a:p>
        </p:txBody>
      </p:sp>
      <p:sp>
        <p:nvSpPr>
          <p:cNvPr id="7" name="Text 5"/>
          <p:cNvSpPr/>
          <p:nvPr/>
        </p:nvSpPr>
        <p:spPr>
          <a:xfrm>
            <a:off x="6309360" y="1737360"/>
            <a:ext cx="365760" cy="960120"/>
          </a:xfrm>
          <a:prstGeom prst="rect">
            <a:avLst/>
          </a:prstGeom>
          <a:noFill/>
          <a:ln/>
        </p:spPr>
        <p:txBody>
          <a:bodyPr wrap="square" lIns="0" tIns="0" rIns="0" bIns="0" rtlCol="0" anchor="ctr"/>
          <a:lstStyle/>
          <a:p>
            <a:pPr marL="0" indent="0" algn="ctr">
              <a:buNone/>
            </a:pPr>
            <a:r>
              <a:rPr lang="en-US" sz="2400" dirty="0">
                <a:solidFill>
                  <a:srgbClr val="475569"/>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6675120" y="1737360"/>
            <a:ext cx="868680" cy="960120"/>
          </a:xfrm>
          <a:prstGeom prst="rect">
            <a:avLst/>
          </a:prstGeom>
          <a:solidFill>
            <a:srgbClr val="F8FAFC"/>
          </a:solidFill>
          <a:ln w="19050">
            <a:solidFill>
              <a:srgbClr val="0F1E3D"/>
            </a:solidFill>
            <a:prstDash val="solid"/>
          </a:ln>
        </p:spPr>
        <p:txBody>
          <a:bodyPr/>
          <a:lstStyle/>
          <a:p>
            <a:endParaRPr lang="en-US"/>
          </a:p>
        </p:txBody>
      </p:sp>
      <p:sp>
        <p:nvSpPr>
          <p:cNvPr id="9" name="Text 7"/>
          <p:cNvSpPr/>
          <p:nvPr/>
        </p:nvSpPr>
        <p:spPr>
          <a:xfrm>
            <a:off x="6675120" y="1737360"/>
            <a:ext cx="868680" cy="960120"/>
          </a:xfrm>
          <a:prstGeom prst="rect">
            <a:avLst/>
          </a:prstGeom>
          <a:noFill/>
          <a:ln/>
        </p:spPr>
        <p:txBody>
          <a:bodyPr wrap="square" lIns="0" tIns="0" rIns="0" bIns="0" rtlCol="0" anchor="ctr"/>
          <a:lstStyle/>
          <a:p>
            <a:pPr marL="0" indent="0" algn="ctr">
              <a:buNone/>
            </a:pPr>
            <a:r>
              <a:rPr lang="en-US" sz="1800" b="1" dirty="0">
                <a:solidFill>
                  <a:srgbClr val="0F1E3D"/>
                </a:solidFill>
                <a:latin typeface="Calibri" pitchFamily="34" charset="0"/>
                <a:ea typeface="Calibri" pitchFamily="34" charset="-122"/>
                <a:cs typeface="Calibri" pitchFamily="34" charset="-120"/>
              </a:rPr>
              <a:t>B</a:t>
            </a:r>
            <a:endParaRPr lang="en-US" sz="1800" dirty="0"/>
          </a:p>
          <a:p>
            <a:pPr marL="0" indent="0" algn="ctr">
              <a:buNone/>
            </a:pPr>
            <a:r>
              <a:rPr lang="en-US" sz="1800" b="1" dirty="0">
                <a:solidFill>
                  <a:srgbClr val="0F1E3D"/>
                </a:solidFill>
                <a:latin typeface="Calibri" pitchFamily="34" charset="0"/>
                <a:ea typeface="Calibri" pitchFamily="34" charset="-122"/>
                <a:cs typeface="Calibri" pitchFamily="34" charset="-120"/>
              </a:rPr>
              <a:t>8×8</a:t>
            </a:r>
            <a:endParaRPr lang="en-US" sz="1800" dirty="0"/>
          </a:p>
        </p:txBody>
      </p:sp>
      <p:sp>
        <p:nvSpPr>
          <p:cNvPr id="10" name="Text 8"/>
          <p:cNvSpPr/>
          <p:nvPr/>
        </p:nvSpPr>
        <p:spPr>
          <a:xfrm>
            <a:off x="7543800" y="1737360"/>
            <a:ext cx="365760" cy="960120"/>
          </a:xfrm>
          <a:prstGeom prst="rect">
            <a:avLst/>
          </a:prstGeom>
          <a:noFill/>
          <a:ln/>
        </p:spPr>
        <p:txBody>
          <a:bodyPr wrap="square" lIns="0" tIns="0" rIns="0" bIns="0" rtlCol="0" anchor="ctr"/>
          <a:lstStyle/>
          <a:p>
            <a:pPr marL="0" indent="0" algn="ctr">
              <a:buNone/>
            </a:pPr>
            <a:r>
              <a:rPr lang="en-US" sz="2400" dirty="0">
                <a:solidFill>
                  <a:srgbClr val="475569"/>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7909560" y="1737360"/>
            <a:ext cx="868680" cy="960120"/>
          </a:xfrm>
          <a:prstGeom prst="rect">
            <a:avLst/>
          </a:prstGeom>
          <a:solidFill>
            <a:srgbClr val="FFFFFF"/>
          </a:solidFill>
          <a:ln w="31750">
            <a:solidFill>
              <a:srgbClr val="00B4D8"/>
            </a:solidFill>
            <a:prstDash val="solid"/>
          </a:ln>
        </p:spPr>
        <p:txBody>
          <a:bodyPr/>
          <a:lstStyle/>
          <a:p>
            <a:endParaRPr lang="en-US"/>
          </a:p>
        </p:txBody>
      </p:sp>
      <p:sp>
        <p:nvSpPr>
          <p:cNvPr id="12" name="Text 10"/>
          <p:cNvSpPr/>
          <p:nvPr/>
        </p:nvSpPr>
        <p:spPr>
          <a:xfrm>
            <a:off x="7909560" y="1737360"/>
            <a:ext cx="868680" cy="960120"/>
          </a:xfrm>
          <a:prstGeom prst="rect">
            <a:avLst/>
          </a:prstGeom>
          <a:noFill/>
          <a:ln/>
        </p:spPr>
        <p:txBody>
          <a:bodyPr wrap="square" lIns="0" tIns="0" rIns="0" bIns="0" rtlCol="0" anchor="ctr"/>
          <a:lstStyle/>
          <a:p>
            <a:pPr marL="0" indent="0" algn="ctr">
              <a:buNone/>
            </a:pPr>
            <a:r>
              <a:rPr lang="en-US" sz="1800" b="1" dirty="0">
                <a:solidFill>
                  <a:srgbClr val="00B4D8"/>
                </a:solidFill>
                <a:latin typeface="Calibri" pitchFamily="34" charset="0"/>
                <a:ea typeface="Calibri" pitchFamily="34" charset="-122"/>
                <a:cs typeface="Calibri" pitchFamily="34" charset="-120"/>
              </a:rPr>
              <a:t>C</a:t>
            </a:r>
            <a:endParaRPr lang="en-US" sz="1800" dirty="0"/>
          </a:p>
          <a:p>
            <a:pPr marL="0" indent="0" algn="ctr">
              <a:buNone/>
            </a:pPr>
            <a:r>
              <a:rPr lang="en-US" sz="1800" b="1" dirty="0">
                <a:solidFill>
                  <a:srgbClr val="00B4D8"/>
                </a:solidFill>
                <a:latin typeface="Calibri" pitchFamily="34" charset="0"/>
                <a:ea typeface="Calibri" pitchFamily="34" charset="-122"/>
                <a:cs typeface="Calibri" pitchFamily="34" charset="-120"/>
              </a:rPr>
              <a:t>8×8</a:t>
            </a:r>
            <a:endParaRPr lang="en-US" sz="1800" dirty="0"/>
          </a:p>
        </p:txBody>
      </p:sp>
      <p:sp>
        <p:nvSpPr>
          <p:cNvPr id="13" name="Shape 11"/>
          <p:cNvSpPr/>
          <p:nvPr/>
        </p:nvSpPr>
        <p:spPr>
          <a:xfrm>
            <a:off x="548640" y="4023360"/>
            <a:ext cx="73152" cy="822960"/>
          </a:xfrm>
          <a:prstGeom prst="rect">
            <a:avLst/>
          </a:prstGeom>
          <a:solidFill>
            <a:srgbClr val="00B4D8"/>
          </a:solidFill>
          <a:ln w="12700">
            <a:solidFill>
              <a:srgbClr val="00B4D8"/>
            </a:solidFill>
            <a:prstDash val="solid"/>
          </a:ln>
        </p:spPr>
        <p:txBody>
          <a:bodyPr/>
          <a:lstStyle/>
          <a:p>
            <a:endParaRPr lang="en-US"/>
          </a:p>
        </p:txBody>
      </p:sp>
      <p:sp>
        <p:nvSpPr>
          <p:cNvPr id="14" name="Shape 12"/>
          <p:cNvSpPr/>
          <p:nvPr/>
        </p:nvSpPr>
        <p:spPr>
          <a:xfrm>
            <a:off x="621792" y="4023360"/>
            <a:ext cx="3017520" cy="822960"/>
          </a:xfrm>
          <a:prstGeom prst="rect">
            <a:avLst/>
          </a:prstGeom>
          <a:solidFill>
            <a:srgbClr val="F8FAFC"/>
          </a:solidFill>
          <a:ln w="12700">
            <a:solidFill>
              <a:srgbClr val="F8FAFC"/>
            </a:solidFill>
            <a:prstDash val="solid"/>
          </a:ln>
        </p:spPr>
        <p:txBody>
          <a:bodyPr/>
          <a:lstStyle/>
          <a:p>
            <a:endParaRPr lang="en-US"/>
          </a:p>
        </p:txBody>
      </p:sp>
      <p:sp>
        <p:nvSpPr>
          <p:cNvPr id="15" name="Text 13"/>
          <p:cNvSpPr/>
          <p:nvPr/>
        </p:nvSpPr>
        <p:spPr>
          <a:xfrm>
            <a:off x="777240" y="4069080"/>
            <a:ext cx="2834640" cy="411480"/>
          </a:xfrm>
          <a:prstGeom prst="rect">
            <a:avLst/>
          </a:prstGeom>
          <a:noFill/>
          <a:ln/>
        </p:spPr>
        <p:txBody>
          <a:bodyPr wrap="square" lIns="0" tIns="0" rIns="0" bIns="0" rtlCol="0" anchor="ctr"/>
          <a:lstStyle/>
          <a:p>
            <a:pPr marL="0" indent="0">
              <a:buNone/>
            </a:pPr>
            <a:r>
              <a:rPr lang="en-US" sz="2200" b="1" dirty="0">
                <a:solidFill>
                  <a:srgbClr val="0F1E3D"/>
                </a:solidFill>
                <a:latin typeface="Calibri" pitchFamily="34" charset="0"/>
                <a:ea typeface="Calibri" pitchFamily="34" charset="-122"/>
                <a:cs typeface="Calibri" pitchFamily="34" charset="-120"/>
              </a:rPr>
              <a:t>15 cycles / tile</a:t>
            </a:r>
            <a:endParaRPr lang="en-US" sz="2200" dirty="0"/>
          </a:p>
        </p:txBody>
      </p:sp>
      <p:sp>
        <p:nvSpPr>
          <p:cNvPr id="16" name="Text 14"/>
          <p:cNvSpPr/>
          <p:nvPr/>
        </p:nvSpPr>
        <p:spPr>
          <a:xfrm>
            <a:off x="777240" y="4480560"/>
            <a:ext cx="2834640" cy="3200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150 ns at 100 MHz</a:t>
            </a:r>
            <a:endParaRPr lang="en-US" sz="1200" dirty="0"/>
          </a:p>
        </p:txBody>
      </p:sp>
      <p:sp>
        <p:nvSpPr>
          <p:cNvPr id="17" name="Shape 15"/>
          <p:cNvSpPr/>
          <p:nvPr/>
        </p:nvSpPr>
        <p:spPr>
          <a:xfrm>
            <a:off x="3840480" y="4023360"/>
            <a:ext cx="73152" cy="822960"/>
          </a:xfrm>
          <a:prstGeom prst="rect">
            <a:avLst/>
          </a:prstGeom>
          <a:solidFill>
            <a:srgbClr val="00B4D8"/>
          </a:solidFill>
          <a:ln w="12700">
            <a:solidFill>
              <a:srgbClr val="00B4D8"/>
            </a:solidFill>
            <a:prstDash val="solid"/>
          </a:ln>
        </p:spPr>
        <p:txBody>
          <a:bodyPr/>
          <a:lstStyle/>
          <a:p>
            <a:endParaRPr lang="en-US"/>
          </a:p>
        </p:txBody>
      </p:sp>
      <p:sp>
        <p:nvSpPr>
          <p:cNvPr id="18" name="Shape 16"/>
          <p:cNvSpPr/>
          <p:nvPr/>
        </p:nvSpPr>
        <p:spPr>
          <a:xfrm>
            <a:off x="3913632" y="4023360"/>
            <a:ext cx="3017520" cy="822960"/>
          </a:xfrm>
          <a:prstGeom prst="rect">
            <a:avLst/>
          </a:prstGeom>
          <a:solidFill>
            <a:srgbClr val="F8FAFC"/>
          </a:solidFill>
          <a:ln w="12700">
            <a:solidFill>
              <a:srgbClr val="F8FAFC"/>
            </a:solidFill>
            <a:prstDash val="solid"/>
          </a:ln>
        </p:spPr>
        <p:txBody>
          <a:bodyPr/>
          <a:lstStyle/>
          <a:p>
            <a:endParaRPr lang="en-US"/>
          </a:p>
        </p:txBody>
      </p:sp>
      <p:sp>
        <p:nvSpPr>
          <p:cNvPr id="19" name="Text 17"/>
          <p:cNvSpPr/>
          <p:nvPr/>
        </p:nvSpPr>
        <p:spPr>
          <a:xfrm>
            <a:off x="4069080" y="4069080"/>
            <a:ext cx="2834640" cy="411480"/>
          </a:xfrm>
          <a:prstGeom prst="rect">
            <a:avLst/>
          </a:prstGeom>
          <a:noFill/>
          <a:ln/>
        </p:spPr>
        <p:txBody>
          <a:bodyPr wrap="square" lIns="0" tIns="0" rIns="0" bIns="0" rtlCol="0" anchor="ctr"/>
          <a:lstStyle/>
          <a:p>
            <a:pPr marL="0" indent="0">
              <a:buNone/>
            </a:pPr>
            <a:r>
              <a:rPr lang="en-US" sz="2200" b="1" dirty="0">
                <a:solidFill>
                  <a:srgbClr val="0F1E3D"/>
                </a:solidFill>
                <a:latin typeface="Calibri" pitchFamily="34" charset="0"/>
                <a:ea typeface="Calibri" pitchFamily="34" charset="-122"/>
                <a:cs typeface="Calibri" pitchFamily="34" charset="-120"/>
              </a:rPr>
              <a:t>3.4 GMAC / s</a:t>
            </a:r>
            <a:endParaRPr lang="en-US" sz="2200" dirty="0"/>
          </a:p>
        </p:txBody>
      </p:sp>
      <p:sp>
        <p:nvSpPr>
          <p:cNvPr id="20" name="Text 18"/>
          <p:cNvSpPr/>
          <p:nvPr/>
        </p:nvSpPr>
        <p:spPr>
          <a:xfrm>
            <a:off x="4069080" y="4480560"/>
            <a:ext cx="2834640" cy="32004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64 PEs × 8 MACs / 150 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marL="0" indent="0">
              <a:buNone/>
            </a:pPr>
            <a:r>
              <a:rPr lang="en-US" sz="3200" b="1" dirty="0">
                <a:solidFill>
                  <a:srgbClr val="0F1E3D"/>
                </a:solidFill>
                <a:latin typeface="Calibri" pitchFamily="34" charset="0"/>
                <a:ea typeface="Calibri" pitchFamily="34" charset="-122"/>
                <a:cs typeface="Calibri" pitchFamily="34" charset="-120"/>
              </a:rPr>
              <a:t>Architecture</a:t>
            </a:r>
            <a:endParaRPr lang="en-US" sz="3200" dirty="0"/>
          </a:p>
        </p:txBody>
      </p:sp>
      <p:sp>
        <p:nvSpPr>
          <p:cNvPr id="3" name="Text 1"/>
          <p:cNvSpPr/>
          <p:nvPr/>
        </p:nvSpPr>
        <p:spPr>
          <a:xfrm>
            <a:off x="548640" y="914400"/>
            <a:ext cx="8229600" cy="320040"/>
          </a:xfrm>
          <a:prstGeom prst="rect">
            <a:avLst/>
          </a:prstGeom>
          <a:noFill/>
          <a:ln/>
        </p:spPr>
        <p:txBody>
          <a:bodyPr wrap="square" lIns="0" tIns="0" rIns="0" bIns="0"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Modular hierarchy — controller, buffers, compute core, AXI wrapper</a:t>
            </a:r>
            <a:endParaRPr lang="en-US" sz="1400" dirty="0"/>
          </a:p>
        </p:txBody>
      </p:sp>
      <p:sp>
        <p:nvSpPr>
          <p:cNvPr id="4" name="Shape 2"/>
          <p:cNvSpPr/>
          <p:nvPr/>
        </p:nvSpPr>
        <p:spPr>
          <a:xfrm>
            <a:off x="548640" y="1645920"/>
            <a:ext cx="73152" cy="320040"/>
          </a:xfrm>
          <a:prstGeom prst="rect">
            <a:avLst/>
          </a:prstGeom>
          <a:solidFill>
            <a:srgbClr val="0F1E3D"/>
          </a:solidFill>
          <a:ln w="12700">
            <a:solidFill>
              <a:srgbClr val="0F1E3D"/>
            </a:solidFill>
            <a:prstDash val="solid"/>
          </a:ln>
        </p:spPr>
        <p:txBody>
          <a:bodyPr/>
          <a:lstStyle/>
          <a:p>
            <a:endParaRPr lang="en-US"/>
          </a:p>
        </p:txBody>
      </p:sp>
      <p:sp>
        <p:nvSpPr>
          <p:cNvPr id="5" name="Text 3"/>
          <p:cNvSpPr/>
          <p:nvPr/>
        </p:nvSpPr>
        <p:spPr>
          <a:xfrm>
            <a:off x="713232" y="1645920"/>
            <a:ext cx="2011680" cy="320040"/>
          </a:xfrm>
          <a:prstGeom prst="rect">
            <a:avLst/>
          </a:prstGeom>
          <a:noFill/>
          <a:ln/>
        </p:spPr>
        <p:txBody>
          <a:bodyPr wrap="square" lIns="0" tIns="0" rIns="0" bIns="0" rtlCol="0" anchor="ctr"/>
          <a:lstStyle/>
          <a:p>
            <a:pPr marL="0" indent="0">
              <a:buNone/>
            </a:pPr>
            <a:r>
              <a:rPr lang="en-US" sz="1100" b="1" dirty="0">
                <a:solidFill>
                  <a:srgbClr val="0F1E3D"/>
                </a:solidFill>
                <a:latin typeface="Consolas" pitchFamily="34" charset="0"/>
                <a:ea typeface="Consolas" pitchFamily="34" charset="-122"/>
                <a:cs typeface="Consolas" pitchFamily="34" charset="-120"/>
              </a:rPr>
              <a:t>gemm_top.sv</a:t>
            </a:r>
            <a:endParaRPr lang="en-US" sz="1100" dirty="0"/>
          </a:p>
        </p:txBody>
      </p:sp>
      <p:sp>
        <p:nvSpPr>
          <p:cNvPr id="6" name="Text 4"/>
          <p:cNvSpPr/>
          <p:nvPr/>
        </p:nvSpPr>
        <p:spPr>
          <a:xfrm>
            <a:off x="2743200" y="1645920"/>
            <a:ext cx="1737360" cy="32004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Top-level IP</a:t>
            </a:r>
            <a:endParaRPr lang="en-US" sz="1000" dirty="0"/>
          </a:p>
        </p:txBody>
      </p:sp>
      <p:sp>
        <p:nvSpPr>
          <p:cNvPr id="7" name="Shape 5"/>
          <p:cNvSpPr/>
          <p:nvPr/>
        </p:nvSpPr>
        <p:spPr>
          <a:xfrm>
            <a:off x="548640" y="2057400"/>
            <a:ext cx="73152" cy="320040"/>
          </a:xfrm>
          <a:prstGeom prst="rect">
            <a:avLst/>
          </a:prstGeom>
          <a:solidFill>
            <a:srgbClr val="475569"/>
          </a:solidFill>
          <a:ln w="12700">
            <a:solidFill>
              <a:srgbClr val="475569"/>
            </a:solidFill>
            <a:prstDash val="solid"/>
          </a:ln>
        </p:spPr>
        <p:txBody>
          <a:bodyPr/>
          <a:lstStyle/>
          <a:p>
            <a:endParaRPr lang="en-US"/>
          </a:p>
        </p:txBody>
      </p:sp>
      <p:sp>
        <p:nvSpPr>
          <p:cNvPr id="8" name="Text 6"/>
          <p:cNvSpPr/>
          <p:nvPr/>
        </p:nvSpPr>
        <p:spPr>
          <a:xfrm>
            <a:off x="713232" y="2057400"/>
            <a:ext cx="2011680" cy="320040"/>
          </a:xfrm>
          <a:prstGeom prst="rect">
            <a:avLst/>
          </a:prstGeom>
          <a:noFill/>
          <a:ln/>
        </p:spPr>
        <p:txBody>
          <a:bodyPr wrap="square" lIns="0" tIns="0" rIns="0" bIns="0" rtlCol="0" anchor="ctr"/>
          <a:lstStyle/>
          <a:p>
            <a:pPr marL="0" indent="0">
              <a:buNone/>
            </a:pPr>
            <a:r>
              <a:rPr lang="en-US" sz="1100" dirty="0">
                <a:solidFill>
                  <a:srgbClr val="0F1E3D"/>
                </a:solidFill>
                <a:latin typeface="Consolas" pitchFamily="34" charset="0"/>
                <a:ea typeface="Consolas" pitchFamily="34" charset="-122"/>
                <a:cs typeface="Consolas" pitchFamily="34" charset="-120"/>
              </a:rPr>
              <a:t>axi_lite_ctrl.sv</a:t>
            </a:r>
            <a:endParaRPr lang="en-US" sz="1100" dirty="0"/>
          </a:p>
        </p:txBody>
      </p:sp>
      <p:sp>
        <p:nvSpPr>
          <p:cNvPr id="9" name="Text 7"/>
          <p:cNvSpPr/>
          <p:nvPr/>
        </p:nvSpPr>
        <p:spPr>
          <a:xfrm>
            <a:off x="2743200" y="2057400"/>
            <a:ext cx="1737360" cy="32004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AXI-Lite slave</a:t>
            </a:r>
            <a:endParaRPr lang="en-US" sz="1000" dirty="0"/>
          </a:p>
        </p:txBody>
      </p:sp>
      <p:sp>
        <p:nvSpPr>
          <p:cNvPr id="10" name="Shape 8"/>
          <p:cNvSpPr/>
          <p:nvPr/>
        </p:nvSpPr>
        <p:spPr>
          <a:xfrm>
            <a:off x="548640" y="2468880"/>
            <a:ext cx="73152" cy="320040"/>
          </a:xfrm>
          <a:prstGeom prst="rect">
            <a:avLst/>
          </a:prstGeom>
          <a:solidFill>
            <a:srgbClr val="475569"/>
          </a:solidFill>
          <a:ln w="12700">
            <a:solidFill>
              <a:srgbClr val="475569"/>
            </a:solidFill>
            <a:prstDash val="solid"/>
          </a:ln>
        </p:spPr>
        <p:txBody>
          <a:bodyPr/>
          <a:lstStyle/>
          <a:p>
            <a:endParaRPr lang="en-US"/>
          </a:p>
        </p:txBody>
      </p:sp>
      <p:sp>
        <p:nvSpPr>
          <p:cNvPr id="11" name="Text 9"/>
          <p:cNvSpPr/>
          <p:nvPr/>
        </p:nvSpPr>
        <p:spPr>
          <a:xfrm>
            <a:off x="713232" y="2468880"/>
            <a:ext cx="2011680" cy="320040"/>
          </a:xfrm>
          <a:prstGeom prst="rect">
            <a:avLst/>
          </a:prstGeom>
          <a:noFill/>
          <a:ln/>
        </p:spPr>
        <p:txBody>
          <a:bodyPr wrap="square" lIns="0" tIns="0" rIns="0" bIns="0" rtlCol="0" anchor="ctr"/>
          <a:lstStyle/>
          <a:p>
            <a:pPr marL="0" indent="0">
              <a:buNone/>
            </a:pPr>
            <a:r>
              <a:rPr lang="en-US" sz="1100" dirty="0">
                <a:solidFill>
                  <a:srgbClr val="0F1E3D"/>
                </a:solidFill>
                <a:latin typeface="Consolas" pitchFamily="34" charset="0"/>
                <a:ea typeface="Consolas" pitchFamily="34" charset="-122"/>
                <a:cs typeface="Consolas" pitchFamily="34" charset="-120"/>
              </a:rPr>
              <a:t>tile_ctrl.sv</a:t>
            </a:r>
            <a:endParaRPr lang="en-US" sz="1100" dirty="0"/>
          </a:p>
        </p:txBody>
      </p:sp>
      <p:sp>
        <p:nvSpPr>
          <p:cNvPr id="12" name="Text 10"/>
          <p:cNvSpPr/>
          <p:nvPr/>
        </p:nvSpPr>
        <p:spPr>
          <a:xfrm>
            <a:off x="2743200" y="2468880"/>
            <a:ext cx="1737360" cy="32004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FSM controller</a:t>
            </a:r>
            <a:endParaRPr lang="en-US" sz="1000" dirty="0"/>
          </a:p>
        </p:txBody>
      </p:sp>
      <p:sp>
        <p:nvSpPr>
          <p:cNvPr id="13" name="Shape 11"/>
          <p:cNvSpPr/>
          <p:nvPr/>
        </p:nvSpPr>
        <p:spPr>
          <a:xfrm>
            <a:off x="548640" y="2880360"/>
            <a:ext cx="73152" cy="320040"/>
          </a:xfrm>
          <a:prstGeom prst="rect">
            <a:avLst/>
          </a:prstGeom>
          <a:solidFill>
            <a:srgbClr val="475569"/>
          </a:solidFill>
          <a:ln w="12700">
            <a:solidFill>
              <a:srgbClr val="475569"/>
            </a:solidFill>
            <a:prstDash val="solid"/>
          </a:ln>
        </p:spPr>
        <p:txBody>
          <a:bodyPr/>
          <a:lstStyle/>
          <a:p>
            <a:endParaRPr lang="en-US"/>
          </a:p>
        </p:txBody>
      </p:sp>
      <p:sp>
        <p:nvSpPr>
          <p:cNvPr id="14" name="Text 12"/>
          <p:cNvSpPr/>
          <p:nvPr/>
        </p:nvSpPr>
        <p:spPr>
          <a:xfrm>
            <a:off x="713232" y="2880360"/>
            <a:ext cx="2011680" cy="320040"/>
          </a:xfrm>
          <a:prstGeom prst="rect">
            <a:avLst/>
          </a:prstGeom>
          <a:noFill/>
          <a:ln/>
        </p:spPr>
        <p:txBody>
          <a:bodyPr wrap="square" lIns="0" tIns="0" rIns="0" bIns="0" rtlCol="0" anchor="ctr"/>
          <a:lstStyle/>
          <a:p>
            <a:pPr marL="0" indent="0">
              <a:buNone/>
            </a:pPr>
            <a:r>
              <a:rPr lang="en-US" sz="1100" dirty="0">
                <a:solidFill>
                  <a:srgbClr val="0F1E3D"/>
                </a:solidFill>
                <a:latin typeface="Consolas" pitchFamily="34" charset="0"/>
                <a:ea typeface="Consolas" pitchFamily="34" charset="-122"/>
                <a:cs typeface="Consolas" pitchFamily="34" charset="-120"/>
              </a:rPr>
              <a:t>a_tile_buffer.sv</a:t>
            </a:r>
            <a:endParaRPr lang="en-US" sz="1100" dirty="0"/>
          </a:p>
        </p:txBody>
      </p:sp>
      <p:sp>
        <p:nvSpPr>
          <p:cNvPr id="15" name="Text 13"/>
          <p:cNvSpPr/>
          <p:nvPr/>
        </p:nvSpPr>
        <p:spPr>
          <a:xfrm>
            <a:off x="2743200" y="2880360"/>
            <a:ext cx="1737360" cy="32004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A operand (8 banks)</a:t>
            </a:r>
            <a:endParaRPr lang="en-US" sz="1000" dirty="0"/>
          </a:p>
        </p:txBody>
      </p:sp>
      <p:sp>
        <p:nvSpPr>
          <p:cNvPr id="16" name="Shape 14"/>
          <p:cNvSpPr/>
          <p:nvPr/>
        </p:nvSpPr>
        <p:spPr>
          <a:xfrm>
            <a:off x="548640" y="3291840"/>
            <a:ext cx="73152" cy="320040"/>
          </a:xfrm>
          <a:prstGeom prst="rect">
            <a:avLst/>
          </a:prstGeom>
          <a:solidFill>
            <a:srgbClr val="475569"/>
          </a:solidFill>
          <a:ln w="12700">
            <a:solidFill>
              <a:srgbClr val="475569"/>
            </a:solidFill>
            <a:prstDash val="solid"/>
          </a:ln>
        </p:spPr>
        <p:txBody>
          <a:bodyPr/>
          <a:lstStyle/>
          <a:p>
            <a:endParaRPr lang="en-US"/>
          </a:p>
        </p:txBody>
      </p:sp>
      <p:sp>
        <p:nvSpPr>
          <p:cNvPr id="17" name="Text 15"/>
          <p:cNvSpPr/>
          <p:nvPr/>
        </p:nvSpPr>
        <p:spPr>
          <a:xfrm>
            <a:off x="713232" y="3291840"/>
            <a:ext cx="2011680" cy="320040"/>
          </a:xfrm>
          <a:prstGeom prst="rect">
            <a:avLst/>
          </a:prstGeom>
          <a:noFill/>
          <a:ln/>
        </p:spPr>
        <p:txBody>
          <a:bodyPr wrap="square" lIns="0" tIns="0" rIns="0" bIns="0" rtlCol="0" anchor="ctr"/>
          <a:lstStyle/>
          <a:p>
            <a:pPr marL="0" indent="0">
              <a:buNone/>
            </a:pPr>
            <a:r>
              <a:rPr lang="en-US" sz="1100" dirty="0">
                <a:solidFill>
                  <a:srgbClr val="0F1E3D"/>
                </a:solidFill>
                <a:latin typeface="Consolas" pitchFamily="34" charset="0"/>
                <a:ea typeface="Consolas" pitchFamily="34" charset="-122"/>
                <a:cs typeface="Consolas" pitchFamily="34" charset="-120"/>
              </a:rPr>
              <a:t>b_tile_buffer.sv</a:t>
            </a:r>
            <a:endParaRPr lang="en-US" sz="1100" dirty="0"/>
          </a:p>
        </p:txBody>
      </p:sp>
      <p:sp>
        <p:nvSpPr>
          <p:cNvPr id="18" name="Text 16"/>
          <p:cNvSpPr/>
          <p:nvPr/>
        </p:nvSpPr>
        <p:spPr>
          <a:xfrm>
            <a:off x="2743200" y="3291840"/>
            <a:ext cx="1737360" cy="32004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B operand (64 reg)</a:t>
            </a:r>
            <a:endParaRPr lang="en-US" sz="1000" dirty="0"/>
          </a:p>
        </p:txBody>
      </p:sp>
      <p:sp>
        <p:nvSpPr>
          <p:cNvPr id="19" name="Shape 17"/>
          <p:cNvSpPr/>
          <p:nvPr/>
        </p:nvSpPr>
        <p:spPr>
          <a:xfrm>
            <a:off x="548640" y="3703320"/>
            <a:ext cx="73152" cy="320040"/>
          </a:xfrm>
          <a:prstGeom prst="rect">
            <a:avLst/>
          </a:prstGeom>
          <a:solidFill>
            <a:srgbClr val="00B4D8"/>
          </a:solidFill>
          <a:ln w="12700">
            <a:solidFill>
              <a:srgbClr val="00B4D8"/>
            </a:solidFill>
            <a:prstDash val="solid"/>
          </a:ln>
        </p:spPr>
        <p:txBody>
          <a:bodyPr/>
          <a:lstStyle/>
          <a:p>
            <a:endParaRPr lang="en-US"/>
          </a:p>
        </p:txBody>
      </p:sp>
      <p:sp>
        <p:nvSpPr>
          <p:cNvPr id="20" name="Text 18"/>
          <p:cNvSpPr/>
          <p:nvPr/>
        </p:nvSpPr>
        <p:spPr>
          <a:xfrm>
            <a:off x="713232" y="3703320"/>
            <a:ext cx="2011680" cy="320040"/>
          </a:xfrm>
          <a:prstGeom prst="rect">
            <a:avLst/>
          </a:prstGeom>
          <a:noFill/>
          <a:ln/>
        </p:spPr>
        <p:txBody>
          <a:bodyPr wrap="square" lIns="0" tIns="0" rIns="0" bIns="0" rtlCol="0" anchor="ctr"/>
          <a:lstStyle/>
          <a:p>
            <a:pPr marL="0" indent="0">
              <a:buNone/>
            </a:pPr>
            <a:r>
              <a:rPr lang="en-US" sz="1100" b="1" dirty="0">
                <a:solidFill>
                  <a:srgbClr val="0F1E3D"/>
                </a:solidFill>
                <a:latin typeface="Consolas" pitchFamily="34" charset="0"/>
                <a:ea typeface="Consolas" pitchFamily="34" charset="-122"/>
                <a:cs typeface="Consolas" pitchFamily="34" charset="-120"/>
              </a:rPr>
              <a:t>systolic_array.sv</a:t>
            </a:r>
            <a:endParaRPr lang="en-US" sz="1100" dirty="0"/>
          </a:p>
        </p:txBody>
      </p:sp>
      <p:sp>
        <p:nvSpPr>
          <p:cNvPr id="21" name="Text 19"/>
          <p:cNvSpPr/>
          <p:nvPr/>
        </p:nvSpPr>
        <p:spPr>
          <a:xfrm>
            <a:off x="2743200" y="3703320"/>
            <a:ext cx="1737360" cy="32004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8×8 PE grid</a:t>
            </a:r>
            <a:endParaRPr lang="en-US" sz="1000" dirty="0"/>
          </a:p>
        </p:txBody>
      </p:sp>
      <p:sp>
        <p:nvSpPr>
          <p:cNvPr id="22" name="Shape 20"/>
          <p:cNvSpPr/>
          <p:nvPr/>
        </p:nvSpPr>
        <p:spPr>
          <a:xfrm>
            <a:off x="6126480" y="1463040"/>
            <a:ext cx="1645920" cy="457200"/>
          </a:xfrm>
          <a:prstGeom prst="rect">
            <a:avLst/>
          </a:prstGeom>
          <a:solidFill>
            <a:srgbClr val="FFFFFF"/>
          </a:solidFill>
          <a:ln w="12700">
            <a:solidFill>
              <a:srgbClr val="475569"/>
            </a:solidFill>
            <a:prstDash val="solid"/>
          </a:ln>
        </p:spPr>
        <p:txBody>
          <a:bodyPr/>
          <a:lstStyle/>
          <a:p>
            <a:endParaRPr lang="en-US"/>
          </a:p>
        </p:txBody>
      </p:sp>
      <p:sp>
        <p:nvSpPr>
          <p:cNvPr id="23" name="Text 21"/>
          <p:cNvSpPr/>
          <p:nvPr/>
        </p:nvSpPr>
        <p:spPr>
          <a:xfrm>
            <a:off x="6126480" y="1463040"/>
            <a:ext cx="1645920" cy="457200"/>
          </a:xfrm>
          <a:prstGeom prst="rect">
            <a:avLst/>
          </a:prstGeom>
          <a:noFill/>
          <a:ln/>
        </p:spPr>
        <p:txBody>
          <a:bodyPr wrap="square" lIns="0" tIns="0" rIns="0" bIns="0" rtlCol="0" anchor="ctr"/>
          <a:lstStyle/>
          <a:p>
            <a:pPr marL="0" indent="0" algn="ctr">
              <a:buNone/>
            </a:pPr>
            <a:r>
              <a:rPr lang="en-US" sz="1100" b="1" dirty="0">
                <a:solidFill>
                  <a:srgbClr val="0F1E3D"/>
                </a:solidFill>
                <a:latin typeface="Calibri" pitchFamily="34" charset="0"/>
                <a:ea typeface="Calibri" pitchFamily="34" charset="-122"/>
                <a:cs typeface="Calibri" pitchFamily="34" charset="-120"/>
              </a:rPr>
              <a:t>Host (Zynq PS)</a:t>
            </a:r>
            <a:endParaRPr lang="en-US" sz="1100" dirty="0"/>
          </a:p>
        </p:txBody>
      </p:sp>
      <p:sp>
        <p:nvSpPr>
          <p:cNvPr id="24" name="Shape 22"/>
          <p:cNvSpPr/>
          <p:nvPr/>
        </p:nvSpPr>
        <p:spPr>
          <a:xfrm>
            <a:off x="6949440" y="1938528"/>
            <a:ext cx="0" cy="228600"/>
          </a:xfrm>
          <a:prstGeom prst="line">
            <a:avLst/>
          </a:prstGeom>
          <a:noFill/>
          <a:ln w="19050">
            <a:solidFill>
              <a:srgbClr val="475569"/>
            </a:solidFill>
            <a:prstDash val="solid"/>
            <a:tailEnd type="triangle"/>
          </a:ln>
        </p:spPr>
        <p:txBody>
          <a:bodyPr/>
          <a:lstStyle/>
          <a:p>
            <a:endParaRPr lang="en-US"/>
          </a:p>
        </p:txBody>
      </p:sp>
      <p:sp>
        <p:nvSpPr>
          <p:cNvPr id="25" name="Text 23"/>
          <p:cNvSpPr/>
          <p:nvPr/>
        </p:nvSpPr>
        <p:spPr>
          <a:xfrm>
            <a:off x="6035040" y="1993392"/>
            <a:ext cx="1828800" cy="228600"/>
          </a:xfrm>
          <a:prstGeom prst="rect">
            <a:avLst/>
          </a:prstGeom>
          <a:noFill/>
          <a:ln/>
        </p:spPr>
        <p:txBody>
          <a:bodyPr wrap="square" lIns="0" tIns="0" rIns="0" bIns="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AXI-Lite  +  tile loads</a:t>
            </a:r>
            <a:endParaRPr lang="en-US" sz="900" dirty="0"/>
          </a:p>
        </p:txBody>
      </p:sp>
      <p:sp>
        <p:nvSpPr>
          <p:cNvPr id="26" name="Shape 24"/>
          <p:cNvSpPr/>
          <p:nvPr/>
        </p:nvSpPr>
        <p:spPr>
          <a:xfrm>
            <a:off x="4754880" y="2331720"/>
            <a:ext cx="1463040" cy="457200"/>
          </a:xfrm>
          <a:prstGeom prst="rect">
            <a:avLst/>
          </a:prstGeom>
          <a:solidFill>
            <a:srgbClr val="F8FAFC"/>
          </a:solidFill>
          <a:ln w="12700">
            <a:solidFill>
              <a:srgbClr val="0F1E3D"/>
            </a:solidFill>
            <a:prstDash val="solid"/>
          </a:ln>
        </p:spPr>
        <p:txBody>
          <a:bodyPr/>
          <a:lstStyle/>
          <a:p>
            <a:endParaRPr lang="en-US"/>
          </a:p>
        </p:txBody>
      </p:sp>
      <p:sp>
        <p:nvSpPr>
          <p:cNvPr id="27" name="Text 25"/>
          <p:cNvSpPr/>
          <p:nvPr/>
        </p:nvSpPr>
        <p:spPr>
          <a:xfrm>
            <a:off x="4754880" y="2331720"/>
            <a:ext cx="1463040" cy="457200"/>
          </a:xfrm>
          <a:prstGeom prst="rect">
            <a:avLst/>
          </a:prstGeom>
          <a:noFill/>
          <a:ln/>
        </p:spPr>
        <p:txBody>
          <a:bodyPr wrap="square" lIns="0" tIns="0" rIns="0" bIns="0" rtlCol="0" anchor="ctr"/>
          <a:lstStyle/>
          <a:p>
            <a:pPr marL="0" indent="0" algn="ctr">
              <a:buNone/>
            </a:pPr>
            <a:r>
              <a:rPr lang="en-US" sz="1000" b="1" dirty="0">
                <a:solidFill>
                  <a:srgbClr val="0F1E3D"/>
                </a:solidFill>
                <a:latin typeface="Consolas" pitchFamily="34" charset="0"/>
                <a:ea typeface="Consolas" pitchFamily="34" charset="-122"/>
                <a:cs typeface="Consolas" pitchFamily="34" charset="-120"/>
              </a:rPr>
              <a:t>a_tile_buffer</a:t>
            </a:r>
            <a:endParaRPr lang="en-US" sz="1000" dirty="0"/>
          </a:p>
        </p:txBody>
      </p:sp>
      <p:sp>
        <p:nvSpPr>
          <p:cNvPr id="28" name="Shape 26"/>
          <p:cNvSpPr/>
          <p:nvPr/>
        </p:nvSpPr>
        <p:spPr>
          <a:xfrm>
            <a:off x="6446520" y="2331720"/>
            <a:ext cx="1463040" cy="457200"/>
          </a:xfrm>
          <a:prstGeom prst="rect">
            <a:avLst/>
          </a:prstGeom>
          <a:solidFill>
            <a:srgbClr val="F8FAFC"/>
          </a:solidFill>
          <a:ln w="12700">
            <a:solidFill>
              <a:srgbClr val="0F1E3D"/>
            </a:solidFill>
            <a:prstDash val="solid"/>
          </a:ln>
        </p:spPr>
        <p:txBody>
          <a:bodyPr/>
          <a:lstStyle/>
          <a:p>
            <a:endParaRPr lang="en-US"/>
          </a:p>
        </p:txBody>
      </p:sp>
      <p:sp>
        <p:nvSpPr>
          <p:cNvPr id="29" name="Text 27"/>
          <p:cNvSpPr/>
          <p:nvPr/>
        </p:nvSpPr>
        <p:spPr>
          <a:xfrm>
            <a:off x="6446520" y="2331720"/>
            <a:ext cx="1463040" cy="457200"/>
          </a:xfrm>
          <a:prstGeom prst="rect">
            <a:avLst/>
          </a:prstGeom>
          <a:noFill/>
          <a:ln/>
        </p:spPr>
        <p:txBody>
          <a:bodyPr wrap="square" lIns="0" tIns="0" rIns="0" bIns="0" rtlCol="0" anchor="ctr"/>
          <a:lstStyle/>
          <a:p>
            <a:pPr marL="0" indent="0" algn="ctr">
              <a:buNone/>
            </a:pPr>
            <a:r>
              <a:rPr lang="en-US" sz="1000" b="1" dirty="0">
                <a:solidFill>
                  <a:srgbClr val="0F1E3D"/>
                </a:solidFill>
                <a:latin typeface="Consolas" pitchFamily="34" charset="0"/>
                <a:ea typeface="Consolas" pitchFamily="34" charset="-122"/>
                <a:cs typeface="Consolas" pitchFamily="34" charset="-120"/>
              </a:rPr>
              <a:t>b_tile_buffer</a:t>
            </a:r>
            <a:endParaRPr lang="en-US" sz="1000" dirty="0"/>
          </a:p>
        </p:txBody>
      </p:sp>
      <p:sp>
        <p:nvSpPr>
          <p:cNvPr id="30" name="Shape 28"/>
          <p:cNvSpPr/>
          <p:nvPr/>
        </p:nvSpPr>
        <p:spPr>
          <a:xfrm>
            <a:off x="8138160" y="2331720"/>
            <a:ext cx="548640" cy="457200"/>
          </a:xfrm>
          <a:prstGeom prst="rect">
            <a:avLst/>
          </a:prstGeom>
          <a:solidFill>
            <a:srgbClr val="F8FAFC"/>
          </a:solidFill>
          <a:ln w="12700">
            <a:solidFill>
              <a:srgbClr val="0F1E3D"/>
            </a:solidFill>
            <a:prstDash val="solid"/>
          </a:ln>
        </p:spPr>
        <p:txBody>
          <a:bodyPr/>
          <a:lstStyle/>
          <a:p>
            <a:endParaRPr lang="en-US"/>
          </a:p>
        </p:txBody>
      </p:sp>
      <p:sp>
        <p:nvSpPr>
          <p:cNvPr id="31" name="Text 29"/>
          <p:cNvSpPr/>
          <p:nvPr/>
        </p:nvSpPr>
        <p:spPr>
          <a:xfrm>
            <a:off x="8138160" y="2331720"/>
            <a:ext cx="548640" cy="457200"/>
          </a:xfrm>
          <a:prstGeom prst="rect">
            <a:avLst/>
          </a:prstGeom>
          <a:noFill/>
          <a:ln/>
        </p:spPr>
        <p:txBody>
          <a:bodyPr wrap="square" lIns="0" tIns="0" rIns="0" bIns="0" rtlCol="0" anchor="ctr"/>
          <a:lstStyle/>
          <a:p>
            <a:pPr marL="0" indent="0" algn="ctr">
              <a:buNone/>
            </a:pPr>
            <a:r>
              <a:rPr lang="en-US" sz="1000" b="1" dirty="0">
                <a:solidFill>
                  <a:srgbClr val="0F1E3D"/>
                </a:solidFill>
                <a:latin typeface="Consolas" pitchFamily="34" charset="0"/>
                <a:ea typeface="Consolas" pitchFamily="34" charset="-122"/>
                <a:cs typeface="Consolas" pitchFamily="34" charset="-120"/>
              </a:rPr>
              <a:t>FSM</a:t>
            </a:r>
            <a:endParaRPr lang="en-US" sz="1000" dirty="0"/>
          </a:p>
        </p:txBody>
      </p:sp>
      <p:sp>
        <p:nvSpPr>
          <p:cNvPr id="32" name="Shape 30"/>
          <p:cNvSpPr/>
          <p:nvPr/>
        </p:nvSpPr>
        <p:spPr>
          <a:xfrm>
            <a:off x="5486400" y="2834640"/>
            <a:ext cx="0" cy="274320"/>
          </a:xfrm>
          <a:prstGeom prst="line">
            <a:avLst/>
          </a:prstGeom>
          <a:noFill/>
          <a:ln w="19050">
            <a:solidFill>
              <a:srgbClr val="475569"/>
            </a:solidFill>
            <a:prstDash val="solid"/>
            <a:tailEnd type="triangle"/>
          </a:ln>
        </p:spPr>
        <p:txBody>
          <a:bodyPr/>
          <a:lstStyle/>
          <a:p>
            <a:endParaRPr lang="en-US"/>
          </a:p>
        </p:txBody>
      </p:sp>
      <p:sp>
        <p:nvSpPr>
          <p:cNvPr id="33" name="Shape 31"/>
          <p:cNvSpPr/>
          <p:nvPr/>
        </p:nvSpPr>
        <p:spPr>
          <a:xfrm>
            <a:off x="7178040" y="2834640"/>
            <a:ext cx="0" cy="274320"/>
          </a:xfrm>
          <a:prstGeom prst="line">
            <a:avLst/>
          </a:prstGeom>
          <a:noFill/>
          <a:ln w="19050">
            <a:solidFill>
              <a:srgbClr val="475569"/>
            </a:solidFill>
            <a:prstDash val="solid"/>
            <a:tailEnd type="triangle"/>
          </a:ln>
        </p:spPr>
        <p:txBody>
          <a:bodyPr/>
          <a:lstStyle/>
          <a:p>
            <a:endParaRPr lang="en-US"/>
          </a:p>
        </p:txBody>
      </p:sp>
      <p:sp>
        <p:nvSpPr>
          <p:cNvPr id="34" name="Shape 32"/>
          <p:cNvSpPr/>
          <p:nvPr/>
        </p:nvSpPr>
        <p:spPr>
          <a:xfrm>
            <a:off x="8412480" y="2834640"/>
            <a:ext cx="0" cy="274320"/>
          </a:xfrm>
          <a:prstGeom prst="line">
            <a:avLst/>
          </a:prstGeom>
          <a:noFill/>
          <a:ln w="19050">
            <a:solidFill>
              <a:srgbClr val="475569"/>
            </a:solidFill>
            <a:prstDash val="solid"/>
            <a:tailEnd type="triangle"/>
          </a:ln>
        </p:spPr>
        <p:txBody>
          <a:bodyPr/>
          <a:lstStyle/>
          <a:p>
            <a:endParaRPr lang="en-US"/>
          </a:p>
        </p:txBody>
      </p:sp>
      <p:sp>
        <p:nvSpPr>
          <p:cNvPr id="35" name="Shape 33"/>
          <p:cNvSpPr/>
          <p:nvPr/>
        </p:nvSpPr>
        <p:spPr>
          <a:xfrm>
            <a:off x="4754880" y="3200400"/>
            <a:ext cx="3931920" cy="868680"/>
          </a:xfrm>
          <a:prstGeom prst="rect">
            <a:avLst/>
          </a:prstGeom>
          <a:solidFill>
            <a:srgbClr val="0F1E3D"/>
          </a:solidFill>
          <a:ln w="25400">
            <a:solidFill>
              <a:srgbClr val="00B4D8"/>
            </a:solidFill>
            <a:prstDash val="solid"/>
          </a:ln>
        </p:spPr>
        <p:txBody>
          <a:bodyPr/>
          <a:lstStyle/>
          <a:p>
            <a:endParaRPr lang="en-US"/>
          </a:p>
        </p:txBody>
      </p:sp>
      <p:sp>
        <p:nvSpPr>
          <p:cNvPr id="36" name="Text 34"/>
          <p:cNvSpPr/>
          <p:nvPr/>
        </p:nvSpPr>
        <p:spPr>
          <a:xfrm>
            <a:off x="4754880" y="3200400"/>
            <a:ext cx="393192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Systolic Array  ·  8×8 PE grid</a:t>
            </a:r>
            <a:endParaRPr lang="en-US" sz="1300" dirty="0"/>
          </a:p>
        </p:txBody>
      </p:sp>
      <p:sp>
        <p:nvSpPr>
          <p:cNvPr id="37" name="Text 35"/>
          <p:cNvSpPr/>
          <p:nvPr/>
        </p:nvSpPr>
        <p:spPr>
          <a:xfrm>
            <a:off x="4754880" y="3611880"/>
            <a:ext cx="3931920" cy="365760"/>
          </a:xfrm>
          <a:prstGeom prst="rect">
            <a:avLst/>
          </a:prstGeom>
          <a:noFill/>
          <a:ln/>
        </p:spPr>
        <p:txBody>
          <a:bodyPr wrap="square" lIns="0" tIns="0" rIns="0" bIns="0" rtlCol="0" anchor="ctr"/>
          <a:lstStyle/>
          <a:p>
            <a:pPr marL="0" indent="0" algn="ctr">
              <a:buNone/>
            </a:pPr>
            <a:r>
              <a:rPr lang="en-US" sz="1000" i="1" dirty="0">
                <a:solidFill>
                  <a:srgbClr val="8ECAE6"/>
                </a:solidFill>
                <a:latin typeface="Calibri" pitchFamily="34" charset="0"/>
                <a:ea typeface="Calibri" pitchFamily="34" charset="-122"/>
                <a:cs typeface="Calibri" pitchFamily="34" charset="-120"/>
              </a:rPr>
              <a:t>64 multiply-accumulates per cycle</a:t>
            </a:r>
            <a:endParaRPr lang="en-US" sz="1000" dirty="0"/>
          </a:p>
        </p:txBody>
      </p:sp>
      <p:sp>
        <p:nvSpPr>
          <p:cNvPr id="38" name="Text 36"/>
          <p:cNvSpPr/>
          <p:nvPr/>
        </p:nvSpPr>
        <p:spPr>
          <a:xfrm>
            <a:off x="548640" y="4434840"/>
            <a:ext cx="8046720" cy="457200"/>
          </a:xfrm>
          <a:prstGeom prst="rect">
            <a:avLst/>
          </a:prstGeom>
          <a:noFill/>
          <a:ln/>
        </p:spPr>
        <p:txBody>
          <a:bodyPr wrap="square" lIns="0" tIns="0" rIns="0" bIns="0" rtlCol="0" anchor="ctr"/>
          <a:lstStyle/>
          <a:p>
            <a:pPr marL="0" indent="0">
              <a:buNone/>
            </a:pPr>
            <a:r>
              <a:rPr lang="en-US" sz="1200" b="1" dirty="0">
                <a:solidFill>
                  <a:srgbClr val="0F1E3D"/>
                </a:solidFill>
                <a:latin typeface="Calibri" pitchFamily="34" charset="0"/>
                <a:ea typeface="Calibri" pitchFamily="34" charset="-122"/>
                <a:cs typeface="Calibri" pitchFamily="34" charset="-120"/>
              </a:rPr>
              <a:t>Key parallelism:  </a:t>
            </a:r>
            <a:r>
              <a:rPr lang="en-US" sz="1200" dirty="0">
                <a:solidFill>
                  <a:srgbClr val="1E293B"/>
                </a:solidFill>
                <a:latin typeface="Calibri" pitchFamily="34" charset="0"/>
                <a:ea typeface="Calibri" pitchFamily="34" charset="-122"/>
                <a:cs typeface="Calibri" pitchFamily="34" charset="-120"/>
              </a:rPr>
              <a:t>64 PEs operate concurrently  ·  8-bank A buffer  ·  64-element B register array  ·  skew/drain chains for alignment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24580-8996-68ED-EBAB-560FBDB4D79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F5473F3-B92D-371F-3E87-4283B5401CCC}"/>
              </a:ext>
            </a:extLst>
          </p:cNvPr>
          <p:cNvSpPr/>
          <p:nvPr/>
        </p:nvSpPr>
        <p:spPr>
          <a:xfrm>
            <a:off x="548640" y="365760"/>
            <a:ext cx="8229600" cy="548640"/>
          </a:xfrm>
          <a:prstGeom prst="rect">
            <a:avLst/>
          </a:prstGeom>
          <a:noFill/>
          <a:ln/>
        </p:spPr>
        <p:txBody>
          <a:bodyPr wrap="square" lIns="0" tIns="0" rIns="0" bIns="0" rtlCol="0" anchor="ctr"/>
          <a:lstStyle/>
          <a:p>
            <a:pPr marL="0" indent="0">
              <a:buNone/>
            </a:pPr>
            <a:r>
              <a:rPr lang="en-US" sz="3200" b="1" dirty="0">
                <a:solidFill>
                  <a:srgbClr val="0F1E3D"/>
                </a:solidFill>
                <a:latin typeface="Calibri" pitchFamily="34" charset="0"/>
                <a:ea typeface="Calibri" pitchFamily="34" charset="-122"/>
                <a:cs typeface="Calibri" pitchFamily="34" charset="-120"/>
              </a:rPr>
              <a:t>Architecture</a:t>
            </a:r>
            <a:endParaRPr lang="en-US" sz="3200" dirty="0"/>
          </a:p>
        </p:txBody>
      </p:sp>
      <p:sp>
        <p:nvSpPr>
          <p:cNvPr id="3" name="Text 1">
            <a:extLst>
              <a:ext uri="{FF2B5EF4-FFF2-40B4-BE49-F238E27FC236}">
                <a16:creationId xmlns:a16="http://schemas.microsoft.com/office/drawing/2014/main" id="{E020ED98-F0EC-B68C-0311-2CD09902F79E}"/>
              </a:ext>
            </a:extLst>
          </p:cNvPr>
          <p:cNvSpPr/>
          <p:nvPr/>
        </p:nvSpPr>
        <p:spPr>
          <a:xfrm>
            <a:off x="548640" y="914400"/>
            <a:ext cx="8229600" cy="320040"/>
          </a:xfrm>
          <a:prstGeom prst="rect">
            <a:avLst/>
          </a:prstGeom>
          <a:noFill/>
          <a:ln/>
        </p:spPr>
        <p:txBody>
          <a:bodyPr wrap="square" lIns="0" tIns="0" rIns="0" bIns="0"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Modular hierarchy — controller, buffers, compute core, AXI wrapper</a:t>
            </a:r>
            <a:endParaRPr lang="en-US" sz="1400" dirty="0"/>
          </a:p>
        </p:txBody>
      </p:sp>
      <p:pic>
        <p:nvPicPr>
          <p:cNvPr id="1026" name="Picture 2" descr="rst_ps7_0_50M &#10;slowest_sync_clk &#10;mb_reset &#10;ext_reset_in &#10;bus_struct_reset[0:0] &#10;aux_reset_in &#10;peripheral_reset[0:0] &#10;mb_debug_sys_rst &#10;interconnect_aresetn[0:0]( &#10;dcm_locked &#10;peripheral_aresetn[0:0] &#10;Processor System Reset &#10;rst_clk_wiz_100M &#10;ps7_0_axi_periph &#10;slowest_sync_clk &#10;mb_reset &#10;+ SOD_AXI &#10;clk_wiz &#10;ext_reset_in &#10;bus_struct_reset[0:0] &#10;CLK &#10;aux_reset_in &#10;peripheral_reset[0:0] &#10;ARESETN &#10;eset &#10;clk_out1 &#10;mb_debug_sys_rst &#10;interconnect_aresetn[0:0]( &#10;SOD_ACLK &#10;MOD_AXI + &#10;:lk in1 &#10;locked &#10;dcm_locked &#10;peripheral_aresetn[0:0] &#10;SOD_ARESETN &#10;MOD_ACLK &#10;Clocking Wizard &#10;Processor System Reset &#10;MOD_ARESETN &#10;gemm_top_0 &#10;processing_system7_0 &#10;AXI Interconnect &#10;+ s axi &#10;DDR + &#10;DDR &#10;s_axi_aclk &#10;FIXED_10 + &#10;FIXED_IO &#10;s_axi_aresetn &#10;MAXI_GPO_ACLK ZYNQ.&quot; &#10;M_AXI_GPO + &#10;a_wr_en_0 &#10;a_wr_en &#10;FOLK_CLKD &#10;r_addr_0[2:0] &#10;a_wr_addr[2:0] &#10;FCLK_RESETO_N &#10;data_0[127:0] &#10;a_wr_data[127:0] &#10;b_wr_en_0 &#10;b_wr_en &#10;ZYNQ7 Processing System &#10;r_addr_0[2:0] &#10;b_wr_addr[2:0] &#10;data_0[12 7:0] &#10;b_wr_data[127:0] &#10;gemm_top_v1_0 ">
            <a:extLst>
              <a:ext uri="{FF2B5EF4-FFF2-40B4-BE49-F238E27FC236}">
                <a16:creationId xmlns:a16="http://schemas.microsoft.com/office/drawing/2014/main" id="{E6301F68-77D8-55A1-251D-165B5CACB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 y="1332411"/>
            <a:ext cx="7878826" cy="3337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336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marL="0" indent="0">
              <a:buNone/>
            </a:pPr>
            <a:r>
              <a:rPr lang="en-US" sz="3200" b="1" dirty="0">
                <a:solidFill>
                  <a:srgbClr val="0F1E3D"/>
                </a:solidFill>
                <a:latin typeface="Calibri" pitchFamily="34" charset="0"/>
                <a:ea typeface="Calibri" pitchFamily="34" charset="-122"/>
                <a:cs typeface="Calibri" pitchFamily="34" charset="-120"/>
              </a:rPr>
              <a:t>Why These Choices?</a:t>
            </a:r>
            <a:endParaRPr lang="en-US" sz="3200" dirty="0"/>
          </a:p>
        </p:txBody>
      </p:sp>
      <p:sp>
        <p:nvSpPr>
          <p:cNvPr id="3" name="Text 1"/>
          <p:cNvSpPr/>
          <p:nvPr/>
        </p:nvSpPr>
        <p:spPr>
          <a:xfrm>
            <a:off x="548640" y="914400"/>
            <a:ext cx="8229600" cy="320040"/>
          </a:xfrm>
          <a:prstGeom prst="rect">
            <a:avLst/>
          </a:prstGeom>
          <a:noFill/>
          <a:ln/>
        </p:spPr>
        <p:txBody>
          <a:bodyPr wrap="square" lIns="0" tIns="0" rIns="0" bIns="0"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Each choice driven by concrete tradeoffs, not intuition</a:t>
            </a:r>
            <a:endParaRPr lang="en-US" sz="1400" dirty="0"/>
          </a:p>
        </p:txBody>
      </p:sp>
      <p:sp>
        <p:nvSpPr>
          <p:cNvPr id="4" name="Shape 2"/>
          <p:cNvSpPr/>
          <p:nvPr/>
        </p:nvSpPr>
        <p:spPr>
          <a:xfrm>
            <a:off x="548640" y="1554480"/>
            <a:ext cx="2606040" cy="3200400"/>
          </a:xfrm>
          <a:prstGeom prst="rect">
            <a:avLst/>
          </a:prstGeom>
          <a:solidFill>
            <a:srgbClr val="F8FAFC"/>
          </a:solidFill>
          <a:ln w="12700">
            <a:solidFill>
              <a:srgbClr val="F8FAFC"/>
            </a:solidFill>
            <a:prstDash val="solid"/>
          </a:ln>
        </p:spPr>
        <p:txBody>
          <a:bodyPr/>
          <a:lstStyle/>
          <a:p>
            <a:endParaRPr lang="en-US"/>
          </a:p>
        </p:txBody>
      </p:sp>
      <p:sp>
        <p:nvSpPr>
          <p:cNvPr id="5" name="Shape 3"/>
          <p:cNvSpPr/>
          <p:nvPr/>
        </p:nvSpPr>
        <p:spPr>
          <a:xfrm>
            <a:off x="548640" y="1554480"/>
            <a:ext cx="2606040" cy="73152"/>
          </a:xfrm>
          <a:prstGeom prst="rect">
            <a:avLst/>
          </a:prstGeom>
          <a:solidFill>
            <a:srgbClr val="00B4D8"/>
          </a:solidFill>
          <a:ln w="12700">
            <a:solidFill>
              <a:srgbClr val="00B4D8"/>
            </a:solidFill>
            <a:prstDash val="solid"/>
          </a:ln>
        </p:spPr>
        <p:txBody>
          <a:bodyPr/>
          <a:lstStyle/>
          <a:p>
            <a:endParaRPr lang="en-US"/>
          </a:p>
        </p:txBody>
      </p:sp>
      <p:sp>
        <p:nvSpPr>
          <p:cNvPr id="6" name="Text 4"/>
          <p:cNvSpPr/>
          <p:nvPr/>
        </p:nvSpPr>
        <p:spPr>
          <a:xfrm>
            <a:off x="777240" y="1783080"/>
            <a:ext cx="914400" cy="457200"/>
          </a:xfrm>
          <a:prstGeom prst="rect">
            <a:avLst/>
          </a:prstGeom>
          <a:noFill/>
          <a:ln/>
        </p:spPr>
        <p:txBody>
          <a:bodyPr wrap="square" lIns="0" tIns="0" rIns="0" bIns="0" rtlCol="0" anchor="ctr"/>
          <a:lstStyle/>
          <a:p>
            <a:pPr marL="0" indent="0">
              <a:buNone/>
            </a:pPr>
            <a:r>
              <a:rPr lang="en-US" sz="3000" b="1" dirty="0">
                <a:solidFill>
                  <a:srgbClr val="00B4D8"/>
                </a:solidFill>
                <a:latin typeface="Calibri" pitchFamily="34" charset="0"/>
                <a:ea typeface="Calibri" pitchFamily="34" charset="-122"/>
                <a:cs typeface="Calibri" pitchFamily="34" charset="-120"/>
              </a:rPr>
              <a:t>01</a:t>
            </a:r>
            <a:endParaRPr lang="en-US" sz="3000" dirty="0"/>
          </a:p>
        </p:txBody>
      </p:sp>
      <p:sp>
        <p:nvSpPr>
          <p:cNvPr id="7" name="Text 5"/>
          <p:cNvSpPr/>
          <p:nvPr/>
        </p:nvSpPr>
        <p:spPr>
          <a:xfrm>
            <a:off x="777240" y="2331720"/>
            <a:ext cx="2194560" cy="640080"/>
          </a:xfrm>
          <a:prstGeom prst="rect">
            <a:avLst/>
          </a:prstGeom>
          <a:noFill/>
          <a:ln/>
        </p:spPr>
        <p:txBody>
          <a:bodyPr wrap="square" lIns="0" tIns="0" rIns="0" bIns="0" rtlCol="0" anchor="ctr"/>
          <a:lstStyle/>
          <a:p>
            <a:pPr marL="0" indent="0">
              <a:buNone/>
            </a:pPr>
            <a:r>
              <a:rPr lang="en-US" sz="1600" b="1" dirty="0">
                <a:solidFill>
                  <a:srgbClr val="0F1E3D"/>
                </a:solidFill>
                <a:latin typeface="Calibri" pitchFamily="34" charset="0"/>
                <a:ea typeface="Calibri" pitchFamily="34" charset="-122"/>
                <a:cs typeface="Calibri" pitchFamily="34" charset="-120"/>
              </a:rPr>
              <a:t>SystemVerilog over HLS</a:t>
            </a:r>
            <a:endParaRPr lang="en-US" sz="1600" dirty="0"/>
          </a:p>
        </p:txBody>
      </p:sp>
      <p:sp>
        <p:nvSpPr>
          <p:cNvPr id="8" name="Text 6"/>
          <p:cNvSpPr/>
          <p:nvPr/>
        </p:nvSpPr>
        <p:spPr>
          <a:xfrm>
            <a:off x="777240" y="3108960"/>
            <a:ext cx="2194560" cy="15087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RTL is 1.5–3× more area-efficient than HLS for structured datapaths like systolic arrays. Course also emphasizes register-transfer-level understanding.</a:t>
            </a:r>
            <a:endParaRPr lang="en-US" sz="1100" dirty="0"/>
          </a:p>
        </p:txBody>
      </p:sp>
      <p:sp>
        <p:nvSpPr>
          <p:cNvPr id="9" name="Shape 7"/>
          <p:cNvSpPr/>
          <p:nvPr/>
        </p:nvSpPr>
        <p:spPr>
          <a:xfrm>
            <a:off x="3383280" y="1554480"/>
            <a:ext cx="2606040" cy="3200400"/>
          </a:xfrm>
          <a:prstGeom prst="rect">
            <a:avLst/>
          </a:prstGeom>
          <a:solidFill>
            <a:srgbClr val="F8FAFC"/>
          </a:solidFill>
          <a:ln w="12700">
            <a:solidFill>
              <a:srgbClr val="F8FAFC"/>
            </a:solidFill>
            <a:prstDash val="solid"/>
          </a:ln>
        </p:spPr>
        <p:txBody>
          <a:bodyPr/>
          <a:lstStyle/>
          <a:p>
            <a:endParaRPr lang="en-US"/>
          </a:p>
        </p:txBody>
      </p:sp>
      <p:sp>
        <p:nvSpPr>
          <p:cNvPr id="10" name="Shape 8"/>
          <p:cNvSpPr/>
          <p:nvPr/>
        </p:nvSpPr>
        <p:spPr>
          <a:xfrm>
            <a:off x="3383280" y="1554480"/>
            <a:ext cx="2606040" cy="73152"/>
          </a:xfrm>
          <a:prstGeom prst="rect">
            <a:avLst/>
          </a:prstGeom>
          <a:solidFill>
            <a:srgbClr val="00B4D8"/>
          </a:solidFill>
          <a:ln w="12700">
            <a:solidFill>
              <a:srgbClr val="00B4D8"/>
            </a:solidFill>
            <a:prstDash val="solid"/>
          </a:ln>
        </p:spPr>
        <p:txBody>
          <a:bodyPr/>
          <a:lstStyle/>
          <a:p>
            <a:endParaRPr lang="en-US"/>
          </a:p>
        </p:txBody>
      </p:sp>
      <p:sp>
        <p:nvSpPr>
          <p:cNvPr id="11" name="Text 9"/>
          <p:cNvSpPr/>
          <p:nvPr/>
        </p:nvSpPr>
        <p:spPr>
          <a:xfrm>
            <a:off x="3611880" y="1783080"/>
            <a:ext cx="914400" cy="457200"/>
          </a:xfrm>
          <a:prstGeom prst="rect">
            <a:avLst/>
          </a:prstGeom>
          <a:noFill/>
          <a:ln/>
        </p:spPr>
        <p:txBody>
          <a:bodyPr wrap="square" lIns="0" tIns="0" rIns="0" bIns="0" rtlCol="0" anchor="ctr"/>
          <a:lstStyle/>
          <a:p>
            <a:pPr marL="0" indent="0">
              <a:buNone/>
            </a:pPr>
            <a:r>
              <a:rPr lang="en-US" sz="3000" b="1" dirty="0">
                <a:solidFill>
                  <a:srgbClr val="00B4D8"/>
                </a:solidFill>
                <a:latin typeface="Calibri" pitchFamily="34" charset="0"/>
                <a:ea typeface="Calibri" pitchFamily="34" charset="-122"/>
                <a:cs typeface="Calibri" pitchFamily="34" charset="-120"/>
              </a:rPr>
              <a:t>02</a:t>
            </a:r>
            <a:endParaRPr lang="en-US" sz="3000" dirty="0"/>
          </a:p>
        </p:txBody>
      </p:sp>
      <p:sp>
        <p:nvSpPr>
          <p:cNvPr id="12" name="Text 10"/>
          <p:cNvSpPr/>
          <p:nvPr/>
        </p:nvSpPr>
        <p:spPr>
          <a:xfrm>
            <a:off x="3611880" y="2331720"/>
            <a:ext cx="2194560" cy="640080"/>
          </a:xfrm>
          <a:prstGeom prst="rect">
            <a:avLst/>
          </a:prstGeom>
          <a:noFill/>
          <a:ln/>
        </p:spPr>
        <p:txBody>
          <a:bodyPr wrap="square" lIns="0" tIns="0" rIns="0" bIns="0" rtlCol="0" anchor="ctr"/>
          <a:lstStyle/>
          <a:p>
            <a:pPr marL="0" indent="0">
              <a:buNone/>
            </a:pPr>
            <a:r>
              <a:rPr lang="en-US" sz="1600" b="1" dirty="0">
                <a:solidFill>
                  <a:srgbClr val="0F1E3D"/>
                </a:solidFill>
                <a:latin typeface="Calibri" pitchFamily="34" charset="0"/>
                <a:ea typeface="Calibri" pitchFamily="34" charset="-122"/>
                <a:cs typeface="Calibri" pitchFamily="34" charset="-120"/>
              </a:rPr>
              <a:t>8×8 array size</a:t>
            </a:r>
            <a:endParaRPr lang="en-US" sz="1600" dirty="0"/>
          </a:p>
        </p:txBody>
      </p:sp>
      <p:sp>
        <p:nvSpPr>
          <p:cNvPr id="13" name="Text 11"/>
          <p:cNvSpPr/>
          <p:nvPr/>
        </p:nvSpPr>
        <p:spPr>
          <a:xfrm>
            <a:off x="3611880" y="3108960"/>
            <a:ext cx="2194560" cy="15087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64 DSP = 29% of 220 budget. 4×4 underutilizes; 16×16 needs 256 DSP — exceeds budget. 8×8 hits the sweet spot.</a:t>
            </a:r>
            <a:endParaRPr lang="en-US" sz="1100" dirty="0"/>
          </a:p>
        </p:txBody>
      </p:sp>
      <p:sp>
        <p:nvSpPr>
          <p:cNvPr id="14" name="Shape 12"/>
          <p:cNvSpPr/>
          <p:nvPr/>
        </p:nvSpPr>
        <p:spPr>
          <a:xfrm>
            <a:off x="6217920" y="1554480"/>
            <a:ext cx="2606040" cy="3200400"/>
          </a:xfrm>
          <a:prstGeom prst="rect">
            <a:avLst/>
          </a:prstGeom>
          <a:solidFill>
            <a:srgbClr val="F8FAFC"/>
          </a:solidFill>
          <a:ln w="12700">
            <a:solidFill>
              <a:srgbClr val="F8FAFC"/>
            </a:solidFill>
            <a:prstDash val="solid"/>
          </a:ln>
        </p:spPr>
        <p:txBody>
          <a:bodyPr/>
          <a:lstStyle/>
          <a:p>
            <a:endParaRPr lang="en-US"/>
          </a:p>
        </p:txBody>
      </p:sp>
      <p:sp>
        <p:nvSpPr>
          <p:cNvPr id="15" name="Shape 13"/>
          <p:cNvSpPr/>
          <p:nvPr/>
        </p:nvSpPr>
        <p:spPr>
          <a:xfrm>
            <a:off x="6217920" y="1554480"/>
            <a:ext cx="2606040" cy="73152"/>
          </a:xfrm>
          <a:prstGeom prst="rect">
            <a:avLst/>
          </a:prstGeom>
          <a:solidFill>
            <a:srgbClr val="00B4D8"/>
          </a:solidFill>
          <a:ln w="12700">
            <a:solidFill>
              <a:srgbClr val="00B4D8"/>
            </a:solidFill>
            <a:prstDash val="solid"/>
          </a:ln>
        </p:spPr>
        <p:txBody>
          <a:bodyPr/>
          <a:lstStyle/>
          <a:p>
            <a:endParaRPr lang="en-US"/>
          </a:p>
        </p:txBody>
      </p:sp>
      <p:sp>
        <p:nvSpPr>
          <p:cNvPr id="16" name="Text 14"/>
          <p:cNvSpPr/>
          <p:nvPr/>
        </p:nvSpPr>
        <p:spPr>
          <a:xfrm>
            <a:off x="6446520" y="1783080"/>
            <a:ext cx="914400" cy="457200"/>
          </a:xfrm>
          <a:prstGeom prst="rect">
            <a:avLst/>
          </a:prstGeom>
          <a:noFill/>
          <a:ln/>
        </p:spPr>
        <p:txBody>
          <a:bodyPr wrap="square" lIns="0" tIns="0" rIns="0" bIns="0" rtlCol="0" anchor="ctr"/>
          <a:lstStyle/>
          <a:p>
            <a:pPr marL="0" indent="0">
              <a:buNone/>
            </a:pPr>
            <a:r>
              <a:rPr lang="en-US" sz="3000" b="1" dirty="0">
                <a:solidFill>
                  <a:srgbClr val="00B4D8"/>
                </a:solidFill>
                <a:latin typeface="Calibri" pitchFamily="34" charset="0"/>
                <a:ea typeface="Calibri" pitchFamily="34" charset="-122"/>
                <a:cs typeface="Calibri" pitchFamily="34" charset="-120"/>
              </a:rPr>
              <a:t>03</a:t>
            </a:r>
            <a:endParaRPr lang="en-US" sz="3000" dirty="0"/>
          </a:p>
        </p:txBody>
      </p:sp>
      <p:sp>
        <p:nvSpPr>
          <p:cNvPr id="17" name="Text 15"/>
          <p:cNvSpPr/>
          <p:nvPr/>
        </p:nvSpPr>
        <p:spPr>
          <a:xfrm>
            <a:off x="6446520" y="2331720"/>
            <a:ext cx="2194560" cy="640080"/>
          </a:xfrm>
          <a:prstGeom prst="rect">
            <a:avLst/>
          </a:prstGeom>
          <a:noFill/>
          <a:ln/>
        </p:spPr>
        <p:txBody>
          <a:bodyPr wrap="square" lIns="0" tIns="0" rIns="0" bIns="0" rtlCol="0" anchor="ctr"/>
          <a:lstStyle/>
          <a:p>
            <a:pPr marL="0" indent="0">
              <a:buNone/>
            </a:pPr>
            <a:r>
              <a:rPr lang="en-US" sz="1600" b="1" dirty="0">
                <a:solidFill>
                  <a:srgbClr val="0F1E3D"/>
                </a:solidFill>
                <a:latin typeface="Calibri" pitchFamily="34" charset="0"/>
                <a:ea typeface="Calibri" pitchFamily="34" charset="-122"/>
                <a:cs typeface="Calibri" pitchFamily="34" charset="-120"/>
              </a:rPr>
              <a:t>Weight-stationary dataflow</a:t>
            </a:r>
            <a:endParaRPr lang="en-US" sz="1600" dirty="0"/>
          </a:p>
        </p:txBody>
      </p:sp>
      <p:sp>
        <p:nvSpPr>
          <p:cNvPr id="18" name="Text 16"/>
          <p:cNvSpPr/>
          <p:nvPr/>
        </p:nvSpPr>
        <p:spPr>
          <a:xfrm>
            <a:off x="6446520" y="3108960"/>
            <a:ext cx="2194560" cy="1508760"/>
          </a:xfrm>
          <a:prstGeom prst="rect">
            <a:avLst/>
          </a:prstGeom>
          <a:noFill/>
          <a:ln/>
        </p:spPr>
        <p:txBody>
          <a:bodyPr wrap="square" lIns="0" tIns="0" rIns="0" bIns="0" rtlCol="0" anchor="t"/>
          <a:lstStyle/>
          <a:p>
            <a:pPr marL="0" indent="0">
              <a:buNone/>
            </a:pPr>
            <a:r>
              <a:rPr lang="en-US" sz="1100" dirty="0">
                <a:solidFill>
                  <a:srgbClr val="1E293B"/>
                </a:solidFill>
                <a:latin typeface="Calibri" pitchFamily="34" charset="0"/>
                <a:ea typeface="Calibri" pitchFamily="34" charset="-122"/>
                <a:cs typeface="Calibri" pitchFamily="34" charset="-120"/>
              </a:rPr>
              <a:t>B loaded once (1 cycle) then never touched. Simplest buffer interface of the three stationary choices.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marL="0" indent="0">
              <a:buNone/>
            </a:pPr>
            <a:r>
              <a:rPr lang="en-US" sz="3200" b="1" dirty="0">
                <a:solidFill>
                  <a:srgbClr val="0F1E3D"/>
                </a:solidFill>
                <a:latin typeface="Calibri" pitchFamily="34" charset="0"/>
                <a:ea typeface="Calibri" pitchFamily="34" charset="-122"/>
                <a:cs typeface="Calibri" pitchFamily="34" charset="-120"/>
              </a:rPr>
              <a:t>Verification</a:t>
            </a:r>
            <a:endParaRPr lang="en-US" sz="3200" dirty="0"/>
          </a:p>
        </p:txBody>
      </p:sp>
      <p:sp>
        <p:nvSpPr>
          <p:cNvPr id="3" name="Text 1"/>
          <p:cNvSpPr/>
          <p:nvPr/>
        </p:nvSpPr>
        <p:spPr>
          <a:xfrm>
            <a:off x="548640" y="914400"/>
            <a:ext cx="8229600" cy="320040"/>
          </a:xfrm>
          <a:prstGeom prst="rect">
            <a:avLst/>
          </a:prstGeom>
          <a:noFill/>
          <a:ln/>
        </p:spPr>
        <p:txBody>
          <a:bodyPr wrap="square" lIns="0" tIns="0" rIns="0" bIns="0"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Unit-then-integration testbench hierarchy, bit-exact against a NumPy golden model</a:t>
            </a:r>
            <a:endParaRPr lang="en-US" sz="1400" dirty="0"/>
          </a:p>
        </p:txBody>
      </p:sp>
      <p:sp>
        <p:nvSpPr>
          <p:cNvPr id="4" name="Shape 2"/>
          <p:cNvSpPr/>
          <p:nvPr/>
        </p:nvSpPr>
        <p:spPr>
          <a:xfrm>
            <a:off x="548640" y="1828800"/>
            <a:ext cx="1417320" cy="777240"/>
          </a:xfrm>
          <a:prstGeom prst="rect">
            <a:avLst/>
          </a:prstGeom>
          <a:solidFill>
            <a:srgbClr val="0F1E3D"/>
          </a:solidFill>
          <a:ln w="12700">
            <a:solidFill>
              <a:srgbClr val="0F1E3D"/>
            </a:solidFill>
            <a:prstDash val="solid"/>
          </a:ln>
        </p:spPr>
        <p:txBody>
          <a:bodyPr/>
          <a:lstStyle/>
          <a:p>
            <a:endParaRPr lang="en-US"/>
          </a:p>
        </p:txBody>
      </p:sp>
      <p:sp>
        <p:nvSpPr>
          <p:cNvPr id="5" name="Text 3"/>
          <p:cNvSpPr/>
          <p:nvPr/>
        </p:nvSpPr>
        <p:spPr>
          <a:xfrm>
            <a:off x="548640" y="1874520"/>
            <a:ext cx="1417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PE</a:t>
            </a:r>
            <a:endParaRPr lang="en-US" sz="1300" dirty="0"/>
          </a:p>
        </p:txBody>
      </p:sp>
      <p:sp>
        <p:nvSpPr>
          <p:cNvPr id="6" name="Text 4"/>
          <p:cNvSpPr/>
          <p:nvPr/>
        </p:nvSpPr>
        <p:spPr>
          <a:xfrm>
            <a:off x="548640" y="2240280"/>
            <a:ext cx="1417320" cy="320040"/>
          </a:xfrm>
          <a:prstGeom prst="rect">
            <a:avLst/>
          </a:prstGeom>
          <a:noFill/>
          <a:ln/>
        </p:spPr>
        <p:txBody>
          <a:bodyPr wrap="square" lIns="0" tIns="0" rIns="0" bIns="0" rtlCol="0" anchor="ctr"/>
          <a:lstStyle/>
          <a:p>
            <a:pPr marL="0" indent="0" algn="ctr">
              <a:buNone/>
            </a:pPr>
            <a:r>
              <a:rPr lang="en-US" sz="900" dirty="0">
                <a:solidFill>
                  <a:srgbClr val="8ECAE6"/>
                </a:solidFill>
                <a:latin typeface="Consolas" pitchFamily="34" charset="0"/>
                <a:ea typeface="Consolas" pitchFamily="34" charset="-122"/>
                <a:cs typeface="Consolas" pitchFamily="34" charset="-120"/>
              </a:rPr>
              <a:t>pe_tb</a:t>
            </a:r>
            <a:endParaRPr lang="en-US" sz="900" dirty="0"/>
          </a:p>
        </p:txBody>
      </p:sp>
      <p:sp>
        <p:nvSpPr>
          <p:cNvPr id="7" name="Shape 5"/>
          <p:cNvSpPr/>
          <p:nvPr/>
        </p:nvSpPr>
        <p:spPr>
          <a:xfrm>
            <a:off x="1975104" y="2217420"/>
            <a:ext cx="100584" cy="0"/>
          </a:xfrm>
          <a:prstGeom prst="line">
            <a:avLst/>
          </a:prstGeom>
          <a:noFill/>
          <a:ln w="19050">
            <a:solidFill>
              <a:srgbClr val="00B4D8"/>
            </a:solidFill>
            <a:prstDash val="solid"/>
            <a:tailEnd type="triangle"/>
          </a:ln>
        </p:spPr>
        <p:txBody>
          <a:bodyPr/>
          <a:lstStyle/>
          <a:p>
            <a:endParaRPr lang="en-US"/>
          </a:p>
        </p:txBody>
      </p:sp>
      <p:sp>
        <p:nvSpPr>
          <p:cNvPr id="8" name="Shape 6"/>
          <p:cNvSpPr/>
          <p:nvPr/>
        </p:nvSpPr>
        <p:spPr>
          <a:xfrm>
            <a:off x="2084832" y="1828800"/>
            <a:ext cx="1417320" cy="777240"/>
          </a:xfrm>
          <a:prstGeom prst="rect">
            <a:avLst/>
          </a:prstGeom>
          <a:solidFill>
            <a:srgbClr val="0F1E3D"/>
          </a:solidFill>
          <a:ln w="12700">
            <a:solidFill>
              <a:srgbClr val="0F1E3D"/>
            </a:solidFill>
            <a:prstDash val="solid"/>
          </a:ln>
        </p:spPr>
        <p:txBody>
          <a:bodyPr/>
          <a:lstStyle/>
          <a:p>
            <a:endParaRPr lang="en-US"/>
          </a:p>
        </p:txBody>
      </p:sp>
      <p:sp>
        <p:nvSpPr>
          <p:cNvPr id="9" name="Text 7"/>
          <p:cNvSpPr/>
          <p:nvPr/>
        </p:nvSpPr>
        <p:spPr>
          <a:xfrm>
            <a:off x="2084832" y="1874520"/>
            <a:ext cx="1417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Array</a:t>
            </a:r>
            <a:endParaRPr lang="en-US" sz="1300" dirty="0"/>
          </a:p>
        </p:txBody>
      </p:sp>
      <p:sp>
        <p:nvSpPr>
          <p:cNvPr id="10" name="Text 8"/>
          <p:cNvSpPr/>
          <p:nvPr/>
        </p:nvSpPr>
        <p:spPr>
          <a:xfrm>
            <a:off x="2084832" y="2240280"/>
            <a:ext cx="1417320" cy="320040"/>
          </a:xfrm>
          <a:prstGeom prst="rect">
            <a:avLst/>
          </a:prstGeom>
          <a:noFill/>
          <a:ln/>
        </p:spPr>
        <p:txBody>
          <a:bodyPr wrap="square" lIns="0" tIns="0" rIns="0" bIns="0" rtlCol="0" anchor="ctr"/>
          <a:lstStyle/>
          <a:p>
            <a:pPr marL="0" indent="0" algn="ctr">
              <a:buNone/>
            </a:pPr>
            <a:r>
              <a:rPr lang="en-US" sz="900" dirty="0">
                <a:solidFill>
                  <a:srgbClr val="8ECAE6"/>
                </a:solidFill>
                <a:latin typeface="Consolas" pitchFamily="34" charset="0"/>
                <a:ea typeface="Consolas" pitchFamily="34" charset="-122"/>
                <a:cs typeface="Consolas" pitchFamily="34" charset="-120"/>
              </a:rPr>
              <a:t>systolic_array_tb</a:t>
            </a:r>
            <a:endParaRPr lang="en-US" sz="900" dirty="0"/>
          </a:p>
        </p:txBody>
      </p:sp>
      <p:sp>
        <p:nvSpPr>
          <p:cNvPr id="11" name="Shape 9"/>
          <p:cNvSpPr/>
          <p:nvPr/>
        </p:nvSpPr>
        <p:spPr>
          <a:xfrm>
            <a:off x="3511296" y="2217420"/>
            <a:ext cx="100584" cy="0"/>
          </a:xfrm>
          <a:prstGeom prst="line">
            <a:avLst/>
          </a:prstGeom>
          <a:noFill/>
          <a:ln w="19050">
            <a:solidFill>
              <a:srgbClr val="00B4D8"/>
            </a:solidFill>
            <a:prstDash val="solid"/>
            <a:tailEnd type="triangle"/>
          </a:ln>
        </p:spPr>
        <p:txBody>
          <a:bodyPr/>
          <a:lstStyle/>
          <a:p>
            <a:endParaRPr lang="en-US"/>
          </a:p>
        </p:txBody>
      </p:sp>
      <p:sp>
        <p:nvSpPr>
          <p:cNvPr id="12" name="Shape 10"/>
          <p:cNvSpPr/>
          <p:nvPr/>
        </p:nvSpPr>
        <p:spPr>
          <a:xfrm>
            <a:off x="3621024" y="1828800"/>
            <a:ext cx="1417320" cy="777240"/>
          </a:xfrm>
          <a:prstGeom prst="rect">
            <a:avLst/>
          </a:prstGeom>
          <a:solidFill>
            <a:srgbClr val="0F1E3D"/>
          </a:solidFill>
          <a:ln w="12700">
            <a:solidFill>
              <a:srgbClr val="0F1E3D"/>
            </a:solidFill>
            <a:prstDash val="solid"/>
          </a:ln>
        </p:spPr>
        <p:txBody>
          <a:bodyPr/>
          <a:lstStyle/>
          <a:p>
            <a:endParaRPr lang="en-US"/>
          </a:p>
        </p:txBody>
      </p:sp>
      <p:sp>
        <p:nvSpPr>
          <p:cNvPr id="13" name="Text 11"/>
          <p:cNvSpPr/>
          <p:nvPr/>
        </p:nvSpPr>
        <p:spPr>
          <a:xfrm>
            <a:off x="3621024" y="1874520"/>
            <a:ext cx="1417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Buffers</a:t>
            </a:r>
            <a:endParaRPr lang="en-US" sz="1300" dirty="0"/>
          </a:p>
        </p:txBody>
      </p:sp>
      <p:sp>
        <p:nvSpPr>
          <p:cNvPr id="14" name="Text 12"/>
          <p:cNvSpPr/>
          <p:nvPr/>
        </p:nvSpPr>
        <p:spPr>
          <a:xfrm>
            <a:off x="3621024" y="2240280"/>
            <a:ext cx="1417320" cy="320040"/>
          </a:xfrm>
          <a:prstGeom prst="rect">
            <a:avLst/>
          </a:prstGeom>
          <a:noFill/>
          <a:ln/>
        </p:spPr>
        <p:txBody>
          <a:bodyPr wrap="square" lIns="0" tIns="0" rIns="0" bIns="0" rtlCol="0" anchor="ctr"/>
          <a:lstStyle/>
          <a:p>
            <a:pPr marL="0" indent="0" algn="ctr">
              <a:buNone/>
            </a:pPr>
            <a:r>
              <a:rPr lang="en-US" sz="900" dirty="0">
                <a:solidFill>
                  <a:srgbClr val="8ECAE6"/>
                </a:solidFill>
                <a:latin typeface="Consolas" pitchFamily="34" charset="0"/>
                <a:ea typeface="Consolas" pitchFamily="34" charset="-122"/>
                <a:cs typeface="Consolas" pitchFamily="34" charset="-120"/>
              </a:rPr>
              <a:t>array_full_buf_tb</a:t>
            </a:r>
            <a:endParaRPr lang="en-US" sz="900" dirty="0"/>
          </a:p>
        </p:txBody>
      </p:sp>
      <p:sp>
        <p:nvSpPr>
          <p:cNvPr id="15" name="Shape 13"/>
          <p:cNvSpPr/>
          <p:nvPr/>
        </p:nvSpPr>
        <p:spPr>
          <a:xfrm>
            <a:off x="5047488" y="2217420"/>
            <a:ext cx="100584" cy="0"/>
          </a:xfrm>
          <a:prstGeom prst="line">
            <a:avLst/>
          </a:prstGeom>
          <a:noFill/>
          <a:ln w="19050">
            <a:solidFill>
              <a:srgbClr val="00B4D8"/>
            </a:solidFill>
            <a:prstDash val="solid"/>
            <a:tailEnd type="triangle"/>
          </a:ln>
        </p:spPr>
        <p:txBody>
          <a:bodyPr/>
          <a:lstStyle/>
          <a:p>
            <a:endParaRPr lang="en-US"/>
          </a:p>
        </p:txBody>
      </p:sp>
      <p:sp>
        <p:nvSpPr>
          <p:cNvPr id="16" name="Shape 14"/>
          <p:cNvSpPr/>
          <p:nvPr/>
        </p:nvSpPr>
        <p:spPr>
          <a:xfrm>
            <a:off x="5157216" y="1828800"/>
            <a:ext cx="1417320" cy="777240"/>
          </a:xfrm>
          <a:prstGeom prst="rect">
            <a:avLst/>
          </a:prstGeom>
          <a:solidFill>
            <a:srgbClr val="0F1E3D"/>
          </a:solidFill>
          <a:ln w="12700">
            <a:solidFill>
              <a:srgbClr val="0F1E3D"/>
            </a:solidFill>
            <a:prstDash val="solid"/>
          </a:ln>
        </p:spPr>
        <p:txBody>
          <a:bodyPr/>
          <a:lstStyle/>
          <a:p>
            <a:endParaRPr lang="en-US"/>
          </a:p>
        </p:txBody>
      </p:sp>
      <p:sp>
        <p:nvSpPr>
          <p:cNvPr id="17" name="Text 15"/>
          <p:cNvSpPr/>
          <p:nvPr/>
        </p:nvSpPr>
        <p:spPr>
          <a:xfrm>
            <a:off x="5157216" y="1874520"/>
            <a:ext cx="1417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FSM</a:t>
            </a:r>
            <a:endParaRPr lang="en-US" sz="1300" dirty="0"/>
          </a:p>
        </p:txBody>
      </p:sp>
      <p:sp>
        <p:nvSpPr>
          <p:cNvPr id="18" name="Text 16"/>
          <p:cNvSpPr/>
          <p:nvPr/>
        </p:nvSpPr>
        <p:spPr>
          <a:xfrm>
            <a:off x="5157216" y="2240280"/>
            <a:ext cx="1417320" cy="320040"/>
          </a:xfrm>
          <a:prstGeom prst="rect">
            <a:avLst/>
          </a:prstGeom>
          <a:noFill/>
          <a:ln/>
        </p:spPr>
        <p:txBody>
          <a:bodyPr wrap="square" lIns="0" tIns="0" rIns="0" bIns="0" rtlCol="0" anchor="ctr"/>
          <a:lstStyle/>
          <a:p>
            <a:pPr marL="0" indent="0" algn="ctr">
              <a:buNone/>
            </a:pPr>
            <a:r>
              <a:rPr lang="en-US" sz="900" dirty="0">
                <a:solidFill>
                  <a:srgbClr val="8ECAE6"/>
                </a:solidFill>
                <a:latin typeface="Consolas" pitchFamily="34" charset="0"/>
                <a:ea typeface="Consolas" pitchFamily="34" charset="-122"/>
                <a:cs typeface="Consolas" pitchFamily="34" charset="-120"/>
              </a:rPr>
              <a:t>array_ctrl_tb</a:t>
            </a:r>
            <a:endParaRPr lang="en-US" sz="900" dirty="0"/>
          </a:p>
        </p:txBody>
      </p:sp>
      <p:sp>
        <p:nvSpPr>
          <p:cNvPr id="19" name="Shape 17"/>
          <p:cNvSpPr/>
          <p:nvPr/>
        </p:nvSpPr>
        <p:spPr>
          <a:xfrm>
            <a:off x="6583680" y="2217420"/>
            <a:ext cx="100584" cy="0"/>
          </a:xfrm>
          <a:prstGeom prst="line">
            <a:avLst/>
          </a:prstGeom>
          <a:noFill/>
          <a:ln w="19050">
            <a:solidFill>
              <a:srgbClr val="00B4D8"/>
            </a:solidFill>
            <a:prstDash val="solid"/>
            <a:tailEnd type="triangle"/>
          </a:ln>
        </p:spPr>
        <p:txBody>
          <a:bodyPr/>
          <a:lstStyle/>
          <a:p>
            <a:endParaRPr lang="en-US"/>
          </a:p>
        </p:txBody>
      </p:sp>
      <p:sp>
        <p:nvSpPr>
          <p:cNvPr id="20" name="Shape 18"/>
          <p:cNvSpPr/>
          <p:nvPr/>
        </p:nvSpPr>
        <p:spPr>
          <a:xfrm>
            <a:off x="6693408" y="1828800"/>
            <a:ext cx="1417320" cy="777240"/>
          </a:xfrm>
          <a:prstGeom prst="rect">
            <a:avLst/>
          </a:prstGeom>
          <a:solidFill>
            <a:srgbClr val="0F1E3D"/>
          </a:solidFill>
          <a:ln w="12700">
            <a:solidFill>
              <a:srgbClr val="0F1E3D"/>
            </a:solidFill>
            <a:prstDash val="solid"/>
          </a:ln>
        </p:spPr>
        <p:txBody>
          <a:bodyPr/>
          <a:lstStyle/>
          <a:p>
            <a:endParaRPr lang="en-US"/>
          </a:p>
        </p:txBody>
      </p:sp>
      <p:sp>
        <p:nvSpPr>
          <p:cNvPr id="21" name="Text 19"/>
          <p:cNvSpPr/>
          <p:nvPr/>
        </p:nvSpPr>
        <p:spPr>
          <a:xfrm>
            <a:off x="6693408" y="1874520"/>
            <a:ext cx="1417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Full AXI</a:t>
            </a:r>
            <a:endParaRPr lang="en-US" sz="1300" dirty="0"/>
          </a:p>
        </p:txBody>
      </p:sp>
      <p:sp>
        <p:nvSpPr>
          <p:cNvPr id="22" name="Text 20"/>
          <p:cNvSpPr/>
          <p:nvPr/>
        </p:nvSpPr>
        <p:spPr>
          <a:xfrm>
            <a:off x="6693408" y="2240280"/>
            <a:ext cx="1417320" cy="320040"/>
          </a:xfrm>
          <a:prstGeom prst="rect">
            <a:avLst/>
          </a:prstGeom>
          <a:noFill/>
          <a:ln/>
        </p:spPr>
        <p:txBody>
          <a:bodyPr wrap="square" lIns="0" tIns="0" rIns="0" bIns="0" rtlCol="0" anchor="ctr"/>
          <a:lstStyle/>
          <a:p>
            <a:pPr marL="0" indent="0" algn="ctr">
              <a:buNone/>
            </a:pPr>
            <a:r>
              <a:rPr lang="en-US" sz="900" dirty="0">
                <a:solidFill>
                  <a:srgbClr val="8ECAE6"/>
                </a:solidFill>
                <a:latin typeface="Consolas" pitchFamily="34" charset="0"/>
                <a:ea typeface="Consolas" pitchFamily="34" charset="-122"/>
                <a:cs typeface="Consolas" pitchFamily="34" charset="-120"/>
              </a:rPr>
              <a:t>gemm_axi_tb</a:t>
            </a:r>
            <a:endParaRPr lang="en-US" sz="900" dirty="0"/>
          </a:p>
        </p:txBody>
      </p:sp>
      <p:sp>
        <p:nvSpPr>
          <p:cNvPr id="23" name="Text 21"/>
          <p:cNvSpPr/>
          <p:nvPr/>
        </p:nvSpPr>
        <p:spPr>
          <a:xfrm>
            <a:off x="548640" y="3108960"/>
            <a:ext cx="4572000" cy="1645920"/>
          </a:xfrm>
          <a:prstGeom prst="rect">
            <a:avLst/>
          </a:prstGeom>
          <a:noFill/>
          <a:ln/>
        </p:spPr>
        <p:txBody>
          <a:bodyPr wrap="square" lIns="0" tIns="0" rIns="0" bIns="0" rtlCol="0" anchor="t"/>
          <a:lstStyle/>
          <a:p>
            <a:pPr marL="0" indent="0">
              <a:spcAft>
                <a:spcPts val="200"/>
              </a:spcAft>
              <a:buNone/>
            </a:pPr>
            <a:r>
              <a:rPr lang="en-US" sz="1200" b="1" dirty="0">
                <a:solidFill>
                  <a:srgbClr val="0F1E3D"/>
                </a:solidFill>
                <a:latin typeface="Calibri" pitchFamily="34" charset="0"/>
                <a:ea typeface="Calibri" pitchFamily="34" charset="-122"/>
                <a:cs typeface="Calibri" pitchFamily="34" charset="-120"/>
              </a:rPr>
              <a:t>Test vectors:  </a:t>
            </a:r>
            <a:endParaRPr lang="en-US" sz="1200" dirty="0"/>
          </a:p>
          <a:p>
            <a:pPr marL="0" indent="0">
              <a:spcAft>
                <a:spcPts val="200"/>
              </a:spcAft>
              <a:buNone/>
            </a:pPr>
            <a:r>
              <a:rPr lang="en-US" sz="1200" dirty="0">
                <a:solidFill>
                  <a:srgbClr val="1E293B"/>
                </a:solidFill>
                <a:latin typeface="Calibri" pitchFamily="34" charset="0"/>
                <a:ea typeface="Calibri" pitchFamily="34" charset="-122"/>
                <a:cs typeface="Calibri" pitchFamily="34" charset="-120"/>
              </a:rPr>
              <a:t>Python golden model with NumPy</a:t>
            </a:r>
            <a:endParaRPr lang="en-US" sz="1200" dirty="0"/>
          </a:p>
          <a:p>
            <a:pPr marL="0" indent="0">
              <a:spcAft>
                <a:spcPts val="200"/>
              </a:spcAft>
              <a:buNone/>
            </a:pPr>
            <a:r>
              <a:rPr lang="en-US" sz="1200" dirty="0">
                <a:solidFill>
                  <a:srgbClr val="1E293B"/>
                </a:solidFill>
                <a:latin typeface="Calibri" pitchFamily="34" charset="0"/>
                <a:ea typeface="Calibri" pitchFamily="34" charset="-122"/>
                <a:cs typeface="Calibri" pitchFamily="34" charset="-120"/>
              </a:rPr>
              <a:t>100 random A/B tile pairs, fixed seed</a:t>
            </a:r>
            <a:endParaRPr lang="en-US" sz="1200" dirty="0"/>
          </a:p>
          <a:p>
            <a:pPr marL="0" indent="0">
              <a:spcAft>
                <a:spcPts val="200"/>
              </a:spcAft>
              <a:buNone/>
            </a:pPr>
            <a:r>
              <a:rPr lang="en-US" sz="1200" dirty="0">
                <a:solidFill>
                  <a:srgbClr val="1E293B"/>
                </a:solidFill>
                <a:latin typeface="Calibri" pitchFamily="34" charset="0"/>
                <a:ea typeface="Calibri" pitchFamily="34" charset="-122"/>
                <a:cs typeface="Calibri" pitchFamily="34" charset="-120"/>
              </a:rPr>
              <a:t>6,400 expected int32 cell values</a:t>
            </a:r>
            <a:endParaRPr lang="en-US" sz="1200" dirty="0"/>
          </a:p>
          <a:p>
            <a:pPr marL="0" indent="0">
              <a:spcAft>
                <a:spcPts val="200"/>
              </a:spcAft>
              <a:buNone/>
            </a:pPr>
            <a:r>
              <a:rPr lang="en-US" sz="400" dirty="0">
                <a:solidFill>
                  <a:srgbClr val="000000"/>
                </a:solidFill>
                <a:latin typeface="Calibri" pitchFamily="34" charset="0"/>
                <a:ea typeface="Calibri" pitchFamily="34" charset="-122"/>
                <a:cs typeface="Calibri" pitchFamily="34" charset="-120"/>
              </a:rPr>
              <a:t> </a:t>
            </a:r>
            <a:endParaRPr lang="en-US" sz="1200" dirty="0"/>
          </a:p>
          <a:p>
            <a:pPr marL="0" indent="0">
              <a:spcAft>
                <a:spcPts val="200"/>
              </a:spcAft>
              <a:buNone/>
            </a:pPr>
            <a:r>
              <a:rPr lang="en-US" sz="1200" b="1" dirty="0">
                <a:solidFill>
                  <a:srgbClr val="0F1E3D"/>
                </a:solidFill>
                <a:latin typeface="Calibri" pitchFamily="34" charset="0"/>
                <a:ea typeface="Calibri" pitchFamily="34" charset="-122"/>
                <a:cs typeface="Calibri" pitchFamily="34" charset="-120"/>
              </a:rPr>
              <a:t>Each testbench: </a:t>
            </a:r>
            <a:r>
              <a:rPr lang="en-US" sz="1200" dirty="0">
                <a:solidFill>
                  <a:srgbClr val="1E293B"/>
                </a:solidFill>
                <a:latin typeface="Calibri" pitchFamily="34" charset="0"/>
                <a:ea typeface="Calibri" pitchFamily="34" charset="-122"/>
                <a:cs typeface="Calibri" pitchFamily="34" charset="-120"/>
              </a:rPr>
              <a:t>$readmemh + bit-exact compare</a:t>
            </a:r>
            <a:endParaRPr lang="en-US" sz="1200" dirty="0"/>
          </a:p>
        </p:txBody>
      </p:sp>
      <p:sp>
        <p:nvSpPr>
          <p:cNvPr id="24" name="Shape 22"/>
          <p:cNvSpPr/>
          <p:nvPr/>
        </p:nvSpPr>
        <p:spPr>
          <a:xfrm>
            <a:off x="5486400" y="3108960"/>
            <a:ext cx="3108960" cy="1645920"/>
          </a:xfrm>
          <a:prstGeom prst="rect">
            <a:avLst/>
          </a:prstGeom>
          <a:solidFill>
            <a:srgbClr val="0F1E3D"/>
          </a:solidFill>
          <a:ln w="25400">
            <a:solidFill>
              <a:srgbClr val="00B4D8"/>
            </a:solidFill>
            <a:prstDash val="solid"/>
          </a:ln>
        </p:spPr>
        <p:txBody>
          <a:bodyPr/>
          <a:lstStyle/>
          <a:p>
            <a:endParaRPr lang="en-US"/>
          </a:p>
        </p:txBody>
      </p:sp>
      <p:sp>
        <p:nvSpPr>
          <p:cNvPr id="25" name="Text 23"/>
          <p:cNvSpPr/>
          <p:nvPr/>
        </p:nvSpPr>
        <p:spPr>
          <a:xfrm>
            <a:off x="5486400" y="3200400"/>
            <a:ext cx="3108960" cy="777240"/>
          </a:xfrm>
          <a:prstGeom prst="rect">
            <a:avLst/>
          </a:prstGeom>
          <a:noFill/>
          <a:ln/>
        </p:spPr>
        <p:txBody>
          <a:bodyPr wrap="square" lIns="0" tIns="0" rIns="0" bIns="0" rtlCol="0" anchor="ctr"/>
          <a:lstStyle/>
          <a:p>
            <a:pPr marL="0" indent="0" algn="ctr">
              <a:buNone/>
            </a:pPr>
            <a:r>
              <a:rPr lang="en-US" sz="3800" b="1" dirty="0">
                <a:solidFill>
                  <a:srgbClr val="00B4D8"/>
                </a:solidFill>
                <a:latin typeface="Calibri" pitchFamily="34" charset="0"/>
                <a:ea typeface="Calibri" pitchFamily="34" charset="-122"/>
                <a:cs typeface="Calibri" pitchFamily="34" charset="-120"/>
              </a:rPr>
              <a:t>6400 / 6400</a:t>
            </a:r>
            <a:endParaRPr lang="en-US" sz="3800" dirty="0"/>
          </a:p>
        </p:txBody>
      </p:sp>
      <p:sp>
        <p:nvSpPr>
          <p:cNvPr id="26" name="Text 24"/>
          <p:cNvSpPr/>
          <p:nvPr/>
        </p:nvSpPr>
        <p:spPr>
          <a:xfrm>
            <a:off x="5486400" y="3977640"/>
            <a:ext cx="3108960" cy="274320"/>
          </a:xfrm>
          <a:prstGeom prst="rect">
            <a:avLst/>
          </a:prstGeom>
          <a:noFill/>
          <a:ln/>
        </p:spPr>
        <p:txBody>
          <a:bodyPr wrap="square" lIns="0" tIns="0" rIns="0" bIns="0" rtlCol="0" anchor="ctr"/>
          <a:lstStyle/>
          <a:p>
            <a:pPr marL="0" indent="0" algn="ctr">
              <a:buNone/>
            </a:pPr>
            <a:r>
              <a:rPr lang="en-US" sz="1100" kern="0" spc="300" dirty="0">
                <a:solidFill>
                  <a:srgbClr val="FFFFFF"/>
                </a:solidFill>
                <a:latin typeface="Calibri" pitchFamily="34" charset="0"/>
                <a:ea typeface="Calibri" pitchFamily="34" charset="-122"/>
                <a:cs typeface="Calibri" pitchFamily="34" charset="-120"/>
              </a:rPr>
              <a:t>BIT-EXACT MATCHES</a:t>
            </a:r>
            <a:endParaRPr lang="en-US" sz="1100" dirty="0"/>
          </a:p>
        </p:txBody>
      </p:sp>
      <p:sp>
        <p:nvSpPr>
          <p:cNvPr id="27" name="Text 25"/>
          <p:cNvSpPr/>
          <p:nvPr/>
        </p:nvSpPr>
        <p:spPr>
          <a:xfrm>
            <a:off x="5486400" y="4297680"/>
            <a:ext cx="3108960" cy="274320"/>
          </a:xfrm>
          <a:prstGeom prst="rect">
            <a:avLst/>
          </a:prstGeom>
          <a:noFill/>
          <a:ln/>
        </p:spPr>
        <p:txBody>
          <a:bodyPr wrap="square" lIns="0" tIns="0" rIns="0" bIns="0" rtlCol="0" anchor="ctr"/>
          <a:lstStyle/>
          <a:p>
            <a:pPr marL="0" indent="0" algn="ctr">
              <a:buNone/>
            </a:pPr>
            <a:r>
              <a:rPr lang="en-US" sz="1000" i="1" dirty="0">
                <a:solidFill>
                  <a:srgbClr val="8ECAE6"/>
                </a:solidFill>
                <a:latin typeface="Calibri" pitchFamily="34" charset="0"/>
                <a:ea typeface="Calibri" pitchFamily="34" charset="-122"/>
                <a:cs typeface="Calibri" pitchFamily="34" charset="-120"/>
              </a:rPr>
              <a:t>across all four integration stages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marL="0" indent="0">
              <a:buNone/>
            </a:pPr>
            <a:r>
              <a:rPr lang="en-US" sz="3200" b="1" dirty="0">
                <a:solidFill>
                  <a:srgbClr val="0F1E3D"/>
                </a:solidFill>
                <a:latin typeface="Calibri" pitchFamily="34" charset="0"/>
                <a:ea typeface="Calibri" pitchFamily="34" charset="-122"/>
                <a:cs typeface="Calibri" pitchFamily="34" charset="-120"/>
              </a:rPr>
              <a:t>Synthesis &amp; Timing Results</a:t>
            </a:r>
            <a:endParaRPr lang="en-US" sz="3200" dirty="0"/>
          </a:p>
        </p:txBody>
      </p:sp>
      <p:sp>
        <p:nvSpPr>
          <p:cNvPr id="3" name="Text 1"/>
          <p:cNvSpPr/>
          <p:nvPr/>
        </p:nvSpPr>
        <p:spPr>
          <a:xfrm>
            <a:off x="548640" y="914400"/>
            <a:ext cx="8229600" cy="320040"/>
          </a:xfrm>
          <a:prstGeom prst="rect">
            <a:avLst/>
          </a:prstGeom>
          <a:noFill/>
          <a:ln/>
        </p:spPr>
        <p:txBody>
          <a:bodyPr wrap="square" lIns="0" tIns="0" rIns="0" bIns="0"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Vivado 2023.2 on xc7z020clg400-1  ·  100 MHz target</a:t>
            </a:r>
            <a:endParaRPr lang="en-US" sz="1400" dirty="0"/>
          </a:p>
        </p:txBody>
      </p:sp>
      <p:sp>
        <p:nvSpPr>
          <p:cNvPr id="4" name="Shape 2"/>
          <p:cNvSpPr/>
          <p:nvPr/>
        </p:nvSpPr>
        <p:spPr>
          <a:xfrm>
            <a:off x="548640" y="1554480"/>
            <a:ext cx="3657600" cy="1417320"/>
          </a:xfrm>
          <a:prstGeom prst="rect">
            <a:avLst/>
          </a:prstGeom>
          <a:solidFill>
            <a:srgbClr val="F8FAFC"/>
          </a:solidFill>
          <a:ln w="12700">
            <a:solidFill>
              <a:srgbClr val="F8FAFC"/>
            </a:solidFill>
            <a:prstDash val="solid"/>
          </a:ln>
        </p:spPr>
        <p:txBody>
          <a:bodyPr/>
          <a:lstStyle/>
          <a:p>
            <a:endParaRPr lang="en-US"/>
          </a:p>
        </p:txBody>
      </p:sp>
      <p:sp>
        <p:nvSpPr>
          <p:cNvPr id="5" name="Shape 3"/>
          <p:cNvSpPr/>
          <p:nvPr/>
        </p:nvSpPr>
        <p:spPr>
          <a:xfrm>
            <a:off x="548640" y="1554480"/>
            <a:ext cx="91440" cy="1417320"/>
          </a:xfrm>
          <a:prstGeom prst="rect">
            <a:avLst/>
          </a:prstGeom>
          <a:solidFill>
            <a:srgbClr val="00B4D8"/>
          </a:solidFill>
          <a:ln w="12700">
            <a:solidFill>
              <a:srgbClr val="00B4D8"/>
            </a:solidFill>
            <a:prstDash val="solid"/>
          </a:ln>
        </p:spPr>
        <p:txBody>
          <a:bodyPr/>
          <a:lstStyle/>
          <a:p>
            <a:endParaRPr lang="en-US"/>
          </a:p>
        </p:txBody>
      </p:sp>
      <p:sp>
        <p:nvSpPr>
          <p:cNvPr id="6" name="Text 4"/>
          <p:cNvSpPr/>
          <p:nvPr/>
        </p:nvSpPr>
        <p:spPr>
          <a:xfrm>
            <a:off x="777240" y="1664208"/>
            <a:ext cx="3291840" cy="274320"/>
          </a:xfrm>
          <a:prstGeom prst="rect">
            <a:avLst/>
          </a:prstGeom>
          <a:noFill/>
          <a:ln/>
        </p:spPr>
        <p:txBody>
          <a:bodyPr wrap="square" lIns="0" tIns="0" rIns="0" bIns="0" rtlCol="0" anchor="ctr"/>
          <a:lstStyle/>
          <a:p>
            <a:pPr marL="0" indent="0">
              <a:buNone/>
            </a:pPr>
            <a:r>
              <a:rPr lang="en-US" sz="1100" kern="0" spc="200" dirty="0">
                <a:solidFill>
                  <a:srgbClr val="475569"/>
                </a:solidFill>
                <a:latin typeface="Calibri" pitchFamily="34" charset="0"/>
                <a:ea typeface="Calibri" pitchFamily="34" charset="-122"/>
                <a:cs typeface="Calibri" pitchFamily="34" charset="-120"/>
              </a:rPr>
              <a:t>DSP utilization</a:t>
            </a:r>
            <a:endParaRPr lang="en-US" sz="1100" dirty="0"/>
          </a:p>
        </p:txBody>
      </p:sp>
      <p:sp>
        <p:nvSpPr>
          <p:cNvPr id="7" name="Text 5"/>
          <p:cNvSpPr/>
          <p:nvPr/>
        </p:nvSpPr>
        <p:spPr>
          <a:xfrm>
            <a:off x="777240" y="1938528"/>
            <a:ext cx="3291840" cy="640080"/>
          </a:xfrm>
          <a:prstGeom prst="rect">
            <a:avLst/>
          </a:prstGeom>
          <a:noFill/>
          <a:ln/>
        </p:spPr>
        <p:txBody>
          <a:bodyPr wrap="square" lIns="0" tIns="0" rIns="0" bIns="0" rtlCol="0" anchor="ctr"/>
          <a:lstStyle/>
          <a:p>
            <a:pPr marL="0" indent="0">
              <a:buNone/>
            </a:pPr>
            <a:r>
              <a:rPr lang="en-US" sz="2800" b="1" dirty="0">
                <a:solidFill>
                  <a:srgbClr val="0F1E3D"/>
                </a:solidFill>
                <a:latin typeface="Calibri" pitchFamily="34" charset="0"/>
                <a:ea typeface="Calibri" pitchFamily="34" charset="-122"/>
                <a:cs typeface="Calibri" pitchFamily="34" charset="-120"/>
              </a:rPr>
              <a:t>64 / 220</a:t>
            </a:r>
            <a:endParaRPr lang="en-US" sz="2800" dirty="0"/>
          </a:p>
        </p:txBody>
      </p:sp>
      <p:sp>
        <p:nvSpPr>
          <p:cNvPr id="8" name="Text 6"/>
          <p:cNvSpPr/>
          <p:nvPr/>
        </p:nvSpPr>
        <p:spPr>
          <a:xfrm>
            <a:off x="777240" y="2587752"/>
            <a:ext cx="3291840" cy="32004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29%  ·  one DSP per PE</a:t>
            </a:r>
            <a:endParaRPr lang="en-US" sz="1100" dirty="0"/>
          </a:p>
        </p:txBody>
      </p:sp>
      <p:sp>
        <p:nvSpPr>
          <p:cNvPr id="9" name="Shape 7"/>
          <p:cNvSpPr/>
          <p:nvPr/>
        </p:nvSpPr>
        <p:spPr>
          <a:xfrm>
            <a:off x="4572000" y="1554480"/>
            <a:ext cx="3657600" cy="1417320"/>
          </a:xfrm>
          <a:prstGeom prst="rect">
            <a:avLst/>
          </a:prstGeom>
          <a:solidFill>
            <a:srgbClr val="F8FAFC"/>
          </a:solidFill>
          <a:ln w="12700">
            <a:solidFill>
              <a:srgbClr val="F8FAFC"/>
            </a:solidFill>
            <a:prstDash val="solid"/>
          </a:ln>
        </p:spPr>
        <p:txBody>
          <a:bodyPr/>
          <a:lstStyle/>
          <a:p>
            <a:endParaRPr lang="en-US"/>
          </a:p>
        </p:txBody>
      </p:sp>
      <p:sp>
        <p:nvSpPr>
          <p:cNvPr id="10" name="Shape 8"/>
          <p:cNvSpPr/>
          <p:nvPr/>
        </p:nvSpPr>
        <p:spPr>
          <a:xfrm>
            <a:off x="4572000" y="1554480"/>
            <a:ext cx="91440" cy="1417320"/>
          </a:xfrm>
          <a:prstGeom prst="rect">
            <a:avLst/>
          </a:prstGeom>
          <a:solidFill>
            <a:srgbClr val="00B4D8"/>
          </a:solidFill>
          <a:ln w="12700">
            <a:solidFill>
              <a:srgbClr val="00B4D8"/>
            </a:solidFill>
            <a:prstDash val="solid"/>
          </a:ln>
        </p:spPr>
        <p:txBody>
          <a:bodyPr/>
          <a:lstStyle/>
          <a:p>
            <a:endParaRPr lang="en-US"/>
          </a:p>
        </p:txBody>
      </p:sp>
      <p:sp>
        <p:nvSpPr>
          <p:cNvPr id="11" name="Text 9"/>
          <p:cNvSpPr/>
          <p:nvPr/>
        </p:nvSpPr>
        <p:spPr>
          <a:xfrm>
            <a:off x="4800600" y="1664208"/>
            <a:ext cx="3291840" cy="274320"/>
          </a:xfrm>
          <a:prstGeom prst="rect">
            <a:avLst/>
          </a:prstGeom>
          <a:noFill/>
          <a:ln/>
        </p:spPr>
        <p:txBody>
          <a:bodyPr wrap="square" lIns="0" tIns="0" rIns="0" bIns="0" rtlCol="0" anchor="ctr"/>
          <a:lstStyle/>
          <a:p>
            <a:pPr marL="0" indent="0">
              <a:buNone/>
            </a:pPr>
            <a:r>
              <a:rPr lang="en-US" sz="1100" kern="0" spc="200" dirty="0">
                <a:solidFill>
                  <a:srgbClr val="475569"/>
                </a:solidFill>
                <a:latin typeface="Calibri" pitchFamily="34" charset="0"/>
                <a:ea typeface="Calibri" pitchFamily="34" charset="-122"/>
                <a:cs typeface="Calibri" pitchFamily="34" charset="-120"/>
              </a:rPr>
              <a:t>Slice LUTs</a:t>
            </a:r>
            <a:endParaRPr lang="en-US" sz="1100" dirty="0"/>
          </a:p>
        </p:txBody>
      </p:sp>
      <p:sp>
        <p:nvSpPr>
          <p:cNvPr id="12" name="Text 10"/>
          <p:cNvSpPr/>
          <p:nvPr/>
        </p:nvSpPr>
        <p:spPr>
          <a:xfrm>
            <a:off x="4800600" y="1938528"/>
            <a:ext cx="3291840" cy="640080"/>
          </a:xfrm>
          <a:prstGeom prst="rect">
            <a:avLst/>
          </a:prstGeom>
          <a:noFill/>
          <a:ln/>
        </p:spPr>
        <p:txBody>
          <a:bodyPr wrap="square" lIns="0" tIns="0" rIns="0" bIns="0" rtlCol="0" anchor="ctr"/>
          <a:lstStyle/>
          <a:p>
            <a:pPr marL="0" indent="0">
              <a:buNone/>
            </a:pPr>
            <a:r>
              <a:rPr lang="en-US" sz="2800" b="1" dirty="0">
                <a:solidFill>
                  <a:srgbClr val="0F1E3D"/>
                </a:solidFill>
                <a:latin typeface="Calibri" pitchFamily="34" charset="0"/>
                <a:ea typeface="Calibri" pitchFamily="34" charset="-122"/>
                <a:cs typeface="Calibri" pitchFamily="34" charset="-120"/>
              </a:rPr>
              <a:t>1,734 / 53,200</a:t>
            </a:r>
            <a:endParaRPr lang="en-US" sz="2800" dirty="0"/>
          </a:p>
        </p:txBody>
      </p:sp>
      <p:sp>
        <p:nvSpPr>
          <p:cNvPr id="13" name="Text 11"/>
          <p:cNvSpPr/>
          <p:nvPr/>
        </p:nvSpPr>
        <p:spPr>
          <a:xfrm>
            <a:off x="4800600" y="2587752"/>
            <a:ext cx="3291840" cy="32004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3.3%  ·  combinational logic</a:t>
            </a:r>
            <a:endParaRPr lang="en-US" sz="1100" dirty="0"/>
          </a:p>
        </p:txBody>
      </p:sp>
      <p:sp>
        <p:nvSpPr>
          <p:cNvPr id="14" name="Shape 12"/>
          <p:cNvSpPr/>
          <p:nvPr/>
        </p:nvSpPr>
        <p:spPr>
          <a:xfrm>
            <a:off x="548640" y="3108960"/>
            <a:ext cx="3657600" cy="1417320"/>
          </a:xfrm>
          <a:prstGeom prst="rect">
            <a:avLst/>
          </a:prstGeom>
          <a:solidFill>
            <a:srgbClr val="F8FAFC"/>
          </a:solidFill>
          <a:ln w="12700">
            <a:solidFill>
              <a:srgbClr val="F8FAFC"/>
            </a:solidFill>
            <a:prstDash val="solid"/>
          </a:ln>
        </p:spPr>
        <p:txBody>
          <a:bodyPr/>
          <a:lstStyle/>
          <a:p>
            <a:endParaRPr lang="en-US"/>
          </a:p>
        </p:txBody>
      </p:sp>
      <p:sp>
        <p:nvSpPr>
          <p:cNvPr id="15" name="Shape 13"/>
          <p:cNvSpPr/>
          <p:nvPr/>
        </p:nvSpPr>
        <p:spPr>
          <a:xfrm>
            <a:off x="548640" y="3108960"/>
            <a:ext cx="91440" cy="1417320"/>
          </a:xfrm>
          <a:prstGeom prst="rect">
            <a:avLst/>
          </a:prstGeom>
          <a:solidFill>
            <a:srgbClr val="00B4D8"/>
          </a:solidFill>
          <a:ln w="12700">
            <a:solidFill>
              <a:srgbClr val="00B4D8"/>
            </a:solidFill>
            <a:prstDash val="solid"/>
          </a:ln>
        </p:spPr>
        <p:txBody>
          <a:bodyPr/>
          <a:lstStyle/>
          <a:p>
            <a:endParaRPr lang="en-US"/>
          </a:p>
        </p:txBody>
      </p:sp>
      <p:sp>
        <p:nvSpPr>
          <p:cNvPr id="16" name="Text 14"/>
          <p:cNvSpPr/>
          <p:nvPr/>
        </p:nvSpPr>
        <p:spPr>
          <a:xfrm>
            <a:off x="777240" y="3218688"/>
            <a:ext cx="3291840" cy="274320"/>
          </a:xfrm>
          <a:prstGeom prst="rect">
            <a:avLst/>
          </a:prstGeom>
          <a:noFill/>
          <a:ln/>
        </p:spPr>
        <p:txBody>
          <a:bodyPr wrap="square" lIns="0" tIns="0" rIns="0" bIns="0" rtlCol="0" anchor="ctr"/>
          <a:lstStyle/>
          <a:p>
            <a:pPr marL="0" indent="0">
              <a:buNone/>
            </a:pPr>
            <a:r>
              <a:rPr lang="en-US" sz="1100" kern="0" spc="200" dirty="0">
                <a:solidFill>
                  <a:srgbClr val="475569"/>
                </a:solidFill>
                <a:latin typeface="Calibri" pitchFamily="34" charset="0"/>
                <a:ea typeface="Calibri" pitchFamily="34" charset="-122"/>
                <a:cs typeface="Calibri" pitchFamily="34" charset="-120"/>
              </a:rPr>
              <a:t>Flip-Flops</a:t>
            </a:r>
            <a:endParaRPr lang="en-US" sz="1100" dirty="0"/>
          </a:p>
        </p:txBody>
      </p:sp>
      <p:sp>
        <p:nvSpPr>
          <p:cNvPr id="17" name="Text 15"/>
          <p:cNvSpPr/>
          <p:nvPr/>
        </p:nvSpPr>
        <p:spPr>
          <a:xfrm>
            <a:off x="777240" y="3493008"/>
            <a:ext cx="3291840" cy="640080"/>
          </a:xfrm>
          <a:prstGeom prst="rect">
            <a:avLst/>
          </a:prstGeom>
          <a:noFill/>
          <a:ln/>
        </p:spPr>
        <p:txBody>
          <a:bodyPr wrap="square" lIns="0" tIns="0" rIns="0" bIns="0" rtlCol="0" anchor="ctr"/>
          <a:lstStyle/>
          <a:p>
            <a:pPr marL="0" indent="0">
              <a:buNone/>
            </a:pPr>
            <a:r>
              <a:rPr lang="en-US" sz="2800" b="1" dirty="0">
                <a:solidFill>
                  <a:srgbClr val="0F1E3D"/>
                </a:solidFill>
                <a:latin typeface="Calibri" pitchFamily="34" charset="0"/>
                <a:ea typeface="Calibri" pitchFamily="34" charset="-122"/>
                <a:cs typeface="Calibri" pitchFamily="34" charset="-120"/>
              </a:rPr>
              <a:t>4,968 / 106,400</a:t>
            </a:r>
            <a:endParaRPr lang="en-US" sz="2800" dirty="0"/>
          </a:p>
        </p:txBody>
      </p:sp>
      <p:sp>
        <p:nvSpPr>
          <p:cNvPr id="18" name="Text 16"/>
          <p:cNvSpPr/>
          <p:nvPr/>
        </p:nvSpPr>
        <p:spPr>
          <a:xfrm>
            <a:off x="777240" y="4142232"/>
            <a:ext cx="3291840" cy="32004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4.7%  ·  pipeline registers</a:t>
            </a:r>
            <a:endParaRPr lang="en-US" sz="1100" dirty="0"/>
          </a:p>
        </p:txBody>
      </p:sp>
      <p:sp>
        <p:nvSpPr>
          <p:cNvPr id="19" name="Shape 17"/>
          <p:cNvSpPr/>
          <p:nvPr/>
        </p:nvSpPr>
        <p:spPr>
          <a:xfrm>
            <a:off x="4572000" y="3108960"/>
            <a:ext cx="3657600" cy="1417320"/>
          </a:xfrm>
          <a:prstGeom prst="rect">
            <a:avLst/>
          </a:prstGeom>
          <a:solidFill>
            <a:srgbClr val="F8FAFC"/>
          </a:solidFill>
          <a:ln w="12700">
            <a:solidFill>
              <a:srgbClr val="F8FAFC"/>
            </a:solidFill>
            <a:prstDash val="solid"/>
          </a:ln>
        </p:spPr>
        <p:txBody>
          <a:bodyPr/>
          <a:lstStyle/>
          <a:p>
            <a:endParaRPr lang="en-US"/>
          </a:p>
        </p:txBody>
      </p:sp>
      <p:sp>
        <p:nvSpPr>
          <p:cNvPr id="20" name="Shape 18"/>
          <p:cNvSpPr/>
          <p:nvPr/>
        </p:nvSpPr>
        <p:spPr>
          <a:xfrm>
            <a:off x="4572000" y="3108960"/>
            <a:ext cx="91440" cy="1417320"/>
          </a:xfrm>
          <a:prstGeom prst="rect">
            <a:avLst/>
          </a:prstGeom>
          <a:solidFill>
            <a:srgbClr val="00B4D8"/>
          </a:solidFill>
          <a:ln w="12700">
            <a:solidFill>
              <a:srgbClr val="00B4D8"/>
            </a:solidFill>
            <a:prstDash val="solid"/>
          </a:ln>
        </p:spPr>
        <p:txBody>
          <a:bodyPr/>
          <a:lstStyle/>
          <a:p>
            <a:endParaRPr lang="en-US"/>
          </a:p>
        </p:txBody>
      </p:sp>
      <p:sp>
        <p:nvSpPr>
          <p:cNvPr id="21" name="Text 19"/>
          <p:cNvSpPr/>
          <p:nvPr/>
        </p:nvSpPr>
        <p:spPr>
          <a:xfrm>
            <a:off x="4800600" y="3218688"/>
            <a:ext cx="3291840" cy="274320"/>
          </a:xfrm>
          <a:prstGeom prst="rect">
            <a:avLst/>
          </a:prstGeom>
          <a:noFill/>
          <a:ln/>
        </p:spPr>
        <p:txBody>
          <a:bodyPr wrap="square" lIns="0" tIns="0" rIns="0" bIns="0" rtlCol="0" anchor="ctr"/>
          <a:lstStyle/>
          <a:p>
            <a:pPr marL="0" indent="0">
              <a:buNone/>
            </a:pPr>
            <a:r>
              <a:rPr lang="en-US" sz="1100" kern="0" spc="200" dirty="0">
                <a:solidFill>
                  <a:srgbClr val="475569"/>
                </a:solidFill>
                <a:latin typeface="Calibri" pitchFamily="34" charset="0"/>
                <a:ea typeface="Calibri" pitchFamily="34" charset="-122"/>
                <a:cs typeface="Calibri" pitchFamily="34" charset="-120"/>
              </a:rPr>
              <a:t>Worst Neg. Slack</a:t>
            </a:r>
            <a:endParaRPr lang="en-US" sz="1100" dirty="0"/>
          </a:p>
        </p:txBody>
      </p:sp>
      <p:sp>
        <p:nvSpPr>
          <p:cNvPr id="22" name="Text 20"/>
          <p:cNvSpPr/>
          <p:nvPr/>
        </p:nvSpPr>
        <p:spPr>
          <a:xfrm>
            <a:off x="4800600" y="3493008"/>
            <a:ext cx="3291840" cy="640080"/>
          </a:xfrm>
          <a:prstGeom prst="rect">
            <a:avLst/>
          </a:prstGeom>
          <a:noFill/>
          <a:ln/>
        </p:spPr>
        <p:txBody>
          <a:bodyPr wrap="square" lIns="0" tIns="0" rIns="0" bIns="0" rtlCol="0" anchor="ctr"/>
          <a:lstStyle/>
          <a:p>
            <a:pPr marL="0" indent="0">
              <a:buNone/>
            </a:pPr>
            <a:r>
              <a:rPr lang="en-US" sz="2800" b="1" dirty="0">
                <a:solidFill>
                  <a:srgbClr val="0F1E3D"/>
                </a:solidFill>
                <a:latin typeface="Calibri" pitchFamily="34" charset="0"/>
                <a:ea typeface="Calibri" pitchFamily="34" charset="-122"/>
                <a:cs typeface="Calibri" pitchFamily="34" charset="-120"/>
              </a:rPr>
              <a:t>+1.377 ns</a:t>
            </a:r>
            <a:endParaRPr lang="en-US" sz="2800" dirty="0"/>
          </a:p>
        </p:txBody>
      </p:sp>
      <p:sp>
        <p:nvSpPr>
          <p:cNvPr id="23" name="Text 21"/>
          <p:cNvSpPr/>
          <p:nvPr/>
        </p:nvSpPr>
        <p:spPr>
          <a:xfrm>
            <a:off x="4800600" y="4142232"/>
            <a:ext cx="3291840" cy="32004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timing met  ·  fmax ≈ 116 MHz</a:t>
            </a:r>
            <a:endParaRPr lang="en-US" sz="1100" dirty="0"/>
          </a:p>
        </p:txBody>
      </p:sp>
      <p:sp>
        <p:nvSpPr>
          <p:cNvPr id="24" name="Shape 22"/>
          <p:cNvSpPr/>
          <p:nvPr/>
        </p:nvSpPr>
        <p:spPr>
          <a:xfrm>
            <a:off x="548640" y="4663440"/>
            <a:ext cx="8046720" cy="365760"/>
          </a:xfrm>
          <a:prstGeom prst="rect">
            <a:avLst/>
          </a:prstGeom>
          <a:solidFill>
            <a:srgbClr val="0F1E3D"/>
          </a:solidFill>
          <a:ln w="12700">
            <a:solidFill>
              <a:srgbClr val="0F1E3D"/>
            </a:solidFill>
            <a:prstDash val="solid"/>
          </a:ln>
        </p:spPr>
        <p:txBody>
          <a:bodyPr/>
          <a:lstStyle/>
          <a:p>
            <a:endParaRPr lang="en-US"/>
          </a:p>
        </p:txBody>
      </p:sp>
      <p:sp>
        <p:nvSpPr>
          <p:cNvPr id="25" name="Text 23"/>
          <p:cNvSpPr/>
          <p:nvPr/>
        </p:nvSpPr>
        <p:spPr>
          <a:xfrm>
            <a:off x="548640" y="4663440"/>
            <a:ext cx="804672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Bitstream generated successfully  ·  Loaded on real PYNQ-Z2  ·  All design goals met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F1E3D"/>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640080" y="548640"/>
            <a:ext cx="8229600" cy="64008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Takeaways</a:t>
            </a:r>
            <a:endParaRPr lang="en-US" sz="3800" dirty="0"/>
          </a:p>
        </p:txBody>
      </p:sp>
      <p:sp>
        <p:nvSpPr>
          <p:cNvPr id="4" name="Shape 2"/>
          <p:cNvSpPr/>
          <p:nvPr/>
        </p:nvSpPr>
        <p:spPr>
          <a:xfrm>
            <a:off x="640080" y="1371600"/>
            <a:ext cx="1371600" cy="0"/>
          </a:xfrm>
          <a:prstGeom prst="line">
            <a:avLst/>
          </a:prstGeom>
          <a:noFill/>
          <a:ln w="25400">
            <a:solidFill>
              <a:srgbClr val="00B4D8"/>
            </a:solidFill>
            <a:prstDash val="solid"/>
          </a:ln>
        </p:spPr>
        <p:txBody>
          <a:bodyPr/>
          <a:lstStyle/>
          <a:p>
            <a:endParaRPr lang="en-US"/>
          </a:p>
        </p:txBody>
      </p:sp>
      <p:sp>
        <p:nvSpPr>
          <p:cNvPr id="5" name="Text 3"/>
          <p:cNvSpPr/>
          <p:nvPr/>
        </p:nvSpPr>
        <p:spPr>
          <a:xfrm>
            <a:off x="640080" y="1691640"/>
            <a:ext cx="548640" cy="365760"/>
          </a:xfrm>
          <a:prstGeom prst="rect">
            <a:avLst/>
          </a:prstGeom>
          <a:noFill/>
          <a:ln/>
        </p:spPr>
        <p:txBody>
          <a:bodyPr wrap="square" lIns="0" tIns="0" rIns="0" bIns="0" rtlCol="0" anchor="ctr"/>
          <a:lstStyle/>
          <a:p>
            <a:pPr marL="0" indent="0">
              <a:buNone/>
            </a:pPr>
            <a:r>
              <a:rPr lang="en-US" sz="1800" b="1" dirty="0">
                <a:solidFill>
                  <a:srgbClr val="00B4D8"/>
                </a:solidFill>
                <a:latin typeface="Calibri" pitchFamily="34" charset="0"/>
                <a:ea typeface="Calibri" pitchFamily="34" charset="-122"/>
                <a:cs typeface="Calibri" pitchFamily="34" charset="-120"/>
              </a:rPr>
              <a:t>01</a:t>
            </a:r>
            <a:endParaRPr lang="en-US" sz="1800" dirty="0"/>
          </a:p>
        </p:txBody>
      </p:sp>
      <p:sp>
        <p:nvSpPr>
          <p:cNvPr id="6" name="Text 4"/>
          <p:cNvSpPr/>
          <p:nvPr/>
        </p:nvSpPr>
        <p:spPr>
          <a:xfrm>
            <a:off x="1188720" y="1691640"/>
            <a:ext cx="73152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All performance goals met</a:t>
            </a:r>
            <a:endParaRPr lang="en-US" sz="1600" dirty="0"/>
          </a:p>
        </p:txBody>
      </p:sp>
      <p:sp>
        <p:nvSpPr>
          <p:cNvPr id="7" name="Text 5"/>
          <p:cNvSpPr/>
          <p:nvPr/>
        </p:nvSpPr>
        <p:spPr>
          <a:xfrm>
            <a:off x="1188720" y="2011680"/>
            <a:ext cx="7315200" cy="365760"/>
          </a:xfrm>
          <a:prstGeom prst="rect">
            <a:avLst/>
          </a:prstGeom>
          <a:noFill/>
          <a:ln/>
        </p:spPr>
        <p:txBody>
          <a:bodyPr wrap="square" lIns="0" tIns="0" rIns="0" bIns="0" rtlCol="0" anchor="ctr"/>
          <a:lstStyle/>
          <a:p>
            <a:pPr marL="0" indent="0">
              <a:buNone/>
            </a:pPr>
            <a:r>
              <a:rPr lang="en-US" sz="1100" i="1" dirty="0">
                <a:solidFill>
                  <a:srgbClr val="8ECAE6"/>
                </a:solidFill>
                <a:latin typeface="Calibri" pitchFamily="34" charset="0"/>
                <a:ea typeface="Calibri" pitchFamily="34" charset="-122"/>
                <a:cs typeface="Calibri" pitchFamily="34" charset="-120"/>
              </a:rPr>
              <a:t>bit-exact 6400/6400  ·  15-cycle latency  ·  29% DSP fit  ·  100 MHz timing closed</a:t>
            </a:r>
            <a:endParaRPr lang="en-US" sz="1100" dirty="0"/>
          </a:p>
        </p:txBody>
      </p:sp>
      <p:sp>
        <p:nvSpPr>
          <p:cNvPr id="8" name="Text 6"/>
          <p:cNvSpPr/>
          <p:nvPr/>
        </p:nvSpPr>
        <p:spPr>
          <a:xfrm>
            <a:off x="640080" y="2468880"/>
            <a:ext cx="548640" cy="365760"/>
          </a:xfrm>
          <a:prstGeom prst="rect">
            <a:avLst/>
          </a:prstGeom>
          <a:noFill/>
          <a:ln/>
        </p:spPr>
        <p:txBody>
          <a:bodyPr wrap="square" lIns="0" tIns="0" rIns="0" bIns="0" rtlCol="0" anchor="ctr"/>
          <a:lstStyle/>
          <a:p>
            <a:pPr marL="0" indent="0">
              <a:buNone/>
            </a:pPr>
            <a:r>
              <a:rPr lang="en-US" sz="1800" b="1" dirty="0">
                <a:solidFill>
                  <a:srgbClr val="00B4D8"/>
                </a:solidFill>
                <a:latin typeface="Calibri" pitchFamily="34" charset="0"/>
                <a:ea typeface="Calibri" pitchFamily="34" charset="-122"/>
                <a:cs typeface="Calibri" pitchFamily="34" charset="-120"/>
              </a:rPr>
              <a:t>02</a:t>
            </a:r>
            <a:endParaRPr lang="en-US" sz="1800" dirty="0"/>
          </a:p>
        </p:txBody>
      </p:sp>
      <p:sp>
        <p:nvSpPr>
          <p:cNvPr id="9" name="Text 7"/>
          <p:cNvSpPr/>
          <p:nvPr/>
        </p:nvSpPr>
        <p:spPr>
          <a:xfrm>
            <a:off x="1188720" y="2468880"/>
            <a:ext cx="73152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Signal-driven &gt; cycle counters</a:t>
            </a:r>
            <a:endParaRPr lang="en-US" sz="1600" dirty="0"/>
          </a:p>
        </p:txBody>
      </p:sp>
      <p:sp>
        <p:nvSpPr>
          <p:cNvPr id="10" name="Text 8"/>
          <p:cNvSpPr/>
          <p:nvPr/>
        </p:nvSpPr>
        <p:spPr>
          <a:xfrm>
            <a:off x="1188720" y="2788920"/>
            <a:ext cx="7315200" cy="365760"/>
          </a:xfrm>
          <a:prstGeom prst="rect">
            <a:avLst/>
          </a:prstGeom>
          <a:noFill/>
          <a:ln/>
        </p:spPr>
        <p:txBody>
          <a:bodyPr wrap="square" lIns="0" tIns="0" rIns="0" bIns="0" rtlCol="0" anchor="ctr"/>
          <a:lstStyle/>
          <a:p>
            <a:pPr marL="0" indent="0">
              <a:buNone/>
            </a:pPr>
            <a:r>
              <a:rPr lang="en-US" sz="1100" i="1" dirty="0">
                <a:solidFill>
                  <a:srgbClr val="8ECAE6"/>
                </a:solidFill>
                <a:latin typeface="Calibri" pitchFamily="34" charset="0"/>
                <a:ea typeface="Calibri" pitchFamily="34" charset="-122"/>
                <a:cs typeface="Calibri" pitchFamily="34" charset="-120"/>
              </a:rPr>
              <a:t>self-correcting under design changes; learned during Phase 7.3 debugging</a:t>
            </a:r>
            <a:endParaRPr lang="en-US" sz="1100" dirty="0"/>
          </a:p>
        </p:txBody>
      </p:sp>
      <p:sp>
        <p:nvSpPr>
          <p:cNvPr id="11" name="Text 9"/>
          <p:cNvSpPr/>
          <p:nvPr/>
        </p:nvSpPr>
        <p:spPr>
          <a:xfrm>
            <a:off x="640080" y="3246120"/>
            <a:ext cx="548640" cy="365760"/>
          </a:xfrm>
          <a:prstGeom prst="rect">
            <a:avLst/>
          </a:prstGeom>
          <a:noFill/>
          <a:ln/>
        </p:spPr>
        <p:txBody>
          <a:bodyPr wrap="square" lIns="0" tIns="0" rIns="0" bIns="0" rtlCol="0" anchor="ctr"/>
          <a:lstStyle/>
          <a:p>
            <a:pPr marL="0" indent="0">
              <a:buNone/>
            </a:pPr>
            <a:r>
              <a:rPr lang="en-US" sz="1800" b="1" dirty="0">
                <a:solidFill>
                  <a:srgbClr val="00B4D8"/>
                </a:solidFill>
                <a:latin typeface="Calibri" pitchFamily="34" charset="0"/>
                <a:ea typeface="Calibri" pitchFamily="34" charset="-122"/>
                <a:cs typeface="Calibri" pitchFamily="34" charset="-120"/>
              </a:rPr>
              <a:t>03</a:t>
            </a:r>
            <a:endParaRPr lang="en-US" sz="1800" dirty="0"/>
          </a:p>
        </p:txBody>
      </p:sp>
      <p:sp>
        <p:nvSpPr>
          <p:cNvPr id="12" name="Text 10"/>
          <p:cNvSpPr/>
          <p:nvPr/>
        </p:nvSpPr>
        <p:spPr>
          <a:xfrm>
            <a:off x="1188720" y="3246120"/>
            <a:ext cx="73152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Simulation is necessary but not sufficient</a:t>
            </a:r>
            <a:endParaRPr lang="en-US" sz="1600" dirty="0"/>
          </a:p>
        </p:txBody>
      </p:sp>
      <p:sp>
        <p:nvSpPr>
          <p:cNvPr id="13" name="Text 11"/>
          <p:cNvSpPr/>
          <p:nvPr/>
        </p:nvSpPr>
        <p:spPr>
          <a:xfrm>
            <a:off x="1188720" y="3566160"/>
            <a:ext cx="7315200" cy="365760"/>
          </a:xfrm>
          <a:prstGeom prst="rect">
            <a:avLst/>
          </a:prstGeom>
          <a:noFill/>
          <a:ln/>
        </p:spPr>
        <p:txBody>
          <a:bodyPr wrap="square" lIns="0" tIns="0" rIns="0" bIns="0" rtlCol="0" anchor="ctr"/>
          <a:lstStyle/>
          <a:p>
            <a:pPr marL="0" indent="0">
              <a:buNone/>
            </a:pPr>
            <a:r>
              <a:rPr lang="en-US" sz="1100" i="1" dirty="0">
                <a:solidFill>
                  <a:srgbClr val="8ECAE6"/>
                </a:solidFill>
                <a:latin typeface="Calibri" pitchFamily="34" charset="0"/>
                <a:ea typeface="Calibri" pitchFamily="34" charset="-122"/>
                <a:cs typeface="Calibri" pitchFamily="34" charset="-120"/>
              </a:rPr>
              <a:t>testbench and RTL can share the same bug — real silicon caught what sim missed</a:t>
            </a:r>
            <a:endParaRPr lang="en-US" sz="1100" dirty="0"/>
          </a:p>
        </p:txBody>
      </p:sp>
      <p:sp>
        <p:nvSpPr>
          <p:cNvPr id="14" name="Shape 12"/>
          <p:cNvSpPr/>
          <p:nvPr/>
        </p:nvSpPr>
        <p:spPr>
          <a:xfrm>
            <a:off x="640080" y="4251960"/>
            <a:ext cx="7955280" cy="0"/>
          </a:xfrm>
          <a:prstGeom prst="line">
            <a:avLst/>
          </a:prstGeom>
          <a:noFill/>
          <a:ln w="12700">
            <a:solidFill>
              <a:srgbClr val="475569"/>
            </a:solidFill>
            <a:prstDash val="solid"/>
          </a:ln>
        </p:spPr>
        <p:txBody>
          <a:bodyPr/>
          <a:lstStyle/>
          <a:p>
            <a:endParaRPr lang="en-US"/>
          </a:p>
        </p:txBody>
      </p:sp>
      <p:sp>
        <p:nvSpPr>
          <p:cNvPr id="16" name="Text 14"/>
          <p:cNvSpPr/>
          <p:nvPr/>
        </p:nvSpPr>
        <p:spPr>
          <a:xfrm>
            <a:off x="640080" y="4754880"/>
            <a:ext cx="8229600" cy="274320"/>
          </a:xfrm>
          <a:prstGeom prst="rect">
            <a:avLst/>
          </a:prstGeom>
          <a:noFill/>
          <a:ln/>
        </p:spPr>
        <p:txBody>
          <a:bodyPr wrap="square" lIns="0" tIns="0" rIns="0" bIns="0" rtlCol="0" anchor="ctr"/>
          <a:lstStyle/>
          <a:p>
            <a:pPr marL="0" indent="0">
              <a:buNone/>
            </a:pPr>
            <a:r>
              <a:rPr lang="en-US" sz="1200" i="1" dirty="0">
                <a:solidFill>
                  <a:srgbClr val="00B4D8"/>
                </a:solidFill>
                <a:latin typeface="Calibri" pitchFamily="34" charset="0"/>
                <a:ea typeface="Calibri" pitchFamily="34" charset="-122"/>
                <a:cs typeface="Calibri" pitchFamily="34" charset="-120"/>
              </a:rPr>
              <a:t>Thank you  ·  Questions?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303</TotalTime>
  <Words>1518</Words>
  <Application>Microsoft Macintosh PowerPoint</Application>
  <PresentationFormat>On-screen Show (16:9)</PresentationFormat>
  <Paragraphs>124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 IP Module for Tiled GEMM</dc:title>
  <dc:subject>PptxGenJS Presentation</dc:subject>
  <dc:creator>YoungJo Choi</dc:creator>
  <cp:lastModifiedBy>Jo Choi</cp:lastModifiedBy>
  <cp:revision>3</cp:revision>
  <dcterms:created xsi:type="dcterms:W3CDTF">2026-05-11T22:35:49Z</dcterms:created>
  <dcterms:modified xsi:type="dcterms:W3CDTF">2026-05-12T19:31:41Z</dcterms:modified>
</cp:coreProperties>
</file>